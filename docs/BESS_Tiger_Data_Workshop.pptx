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731520" y="1371600"/>
            <a:ext cx="7680960" cy="1371600"/>
          </a:xfrm>
          <a:prstGeom prst="rect">
            <a:avLst/>
          </a:prstGeom>
          <a:noFill/>
        </p:spPr>
        <p:txBody>
          <a:bodyPr wrap="square">
            <a:spAutoFit/>
          </a:bodyPr>
          <a:lstStyle/>
          <a:p>
            <a:pPr algn="l">
              <a:defRPr sz="3200" b="1">
                <a:solidFill>
                  <a:srgbClr val="FFFFFF"/>
                </a:solidFill>
                <a:latin typeface="Arial"/>
              </a:defRPr>
            </a:pPr>
            <a:r>
              <a:t>Battery Energy Storage Systems</a:t>
            </a:r>
            <a:br/>
            <a:r>
              <a:t>Tiger Data Technical Workshop</a:t>
            </a:r>
          </a:p>
        </p:txBody>
      </p:sp>
      <p:sp>
        <p:nvSpPr>
          <p:cNvPr id="3" name="TextBox 2"/>
          <p:cNvSpPr txBox="1"/>
          <p:nvPr/>
        </p:nvSpPr>
        <p:spPr>
          <a:xfrm>
            <a:off x="731520" y="2926080"/>
            <a:ext cx="7680960" cy="731520"/>
          </a:xfrm>
          <a:prstGeom prst="rect">
            <a:avLst/>
          </a:prstGeom>
          <a:noFill/>
        </p:spPr>
        <p:txBody>
          <a:bodyPr wrap="square">
            <a:spAutoFit/>
          </a:bodyPr>
          <a:lstStyle/>
          <a:p>
            <a:pPr algn="l">
              <a:defRPr sz="1400" b="0">
                <a:solidFill>
                  <a:srgbClr val="BBBBBB"/>
                </a:solidFill>
                <a:latin typeface="Arial"/>
              </a:defRPr>
            </a:pPr>
            <a:r>
              <a:t>Real-time telemetry, operational decisions, and data lifecycle at scale</a:t>
            </a:r>
          </a:p>
        </p:txBody>
      </p:sp>
      <p:sp>
        <p:nvSpPr>
          <p:cNvPr id="4" name="TextBox 3"/>
          <p:cNvSpPr txBox="1"/>
          <p:nvPr/>
        </p:nvSpPr>
        <p:spPr>
          <a:xfrm>
            <a:off x="731520" y="4023360"/>
            <a:ext cx="3657600" cy="365760"/>
          </a:xfrm>
          <a:prstGeom prst="rect">
            <a:avLst/>
          </a:prstGeom>
          <a:noFill/>
        </p:spPr>
        <p:txBody>
          <a:bodyPr wrap="square">
            <a:spAutoFit/>
          </a:bodyPr>
          <a:lstStyle/>
          <a:p>
            <a:pPr algn="l">
              <a:defRPr sz="1000" b="0">
                <a:solidFill>
                  <a:srgbClr val="888888"/>
                </a:solidFill>
                <a:latin typeface="Arial"/>
              </a:defRPr>
            </a:pPr>
            <a:r>
              <a:t>Tiger Data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731520" y="457200"/>
            <a:ext cx="7680960" cy="548640"/>
          </a:xfrm>
          <a:prstGeom prst="rect">
            <a:avLst/>
          </a:prstGeom>
          <a:noFill/>
        </p:spPr>
        <p:txBody>
          <a:bodyPr wrap="square">
            <a:spAutoFit/>
          </a:bodyPr>
          <a:lstStyle/>
          <a:p>
            <a:pPr algn="l">
              <a:defRPr sz="2400" b="1">
                <a:solidFill>
                  <a:srgbClr val="FFFFFF"/>
                </a:solidFill>
                <a:latin typeface="Arial"/>
              </a:defRPr>
            </a:pPr>
            <a:r>
              <a:t>Contents</a:t>
            </a:r>
          </a:p>
        </p:txBody>
      </p:sp>
      <p:sp>
        <p:nvSpPr>
          <p:cNvPr id="3" name="TextBox 2"/>
          <p:cNvSpPr txBox="1"/>
          <p:nvPr/>
        </p:nvSpPr>
        <p:spPr>
          <a:xfrm>
            <a:off x="731520" y="1280160"/>
            <a:ext cx="7680960" cy="3200400"/>
          </a:xfrm>
          <a:prstGeom prst="rect">
            <a:avLst/>
          </a:prstGeom>
          <a:noFill/>
        </p:spPr>
        <p:txBody>
          <a:bodyPr wrap="square">
            <a:spAutoFit/>
          </a:bodyPr>
          <a:lstStyle/>
          <a:p>
            <a:pPr algn="l">
              <a:defRPr sz="1600" b="0">
                <a:solidFill>
                  <a:srgbClr val="BBBBBB"/>
                </a:solidFill>
                <a:latin typeface="Arial"/>
              </a:defRPr>
            </a:pPr>
          </a:p>
          <a:p>
            <a:pPr algn="l">
              <a:spcBef>
                <a:spcPts val="1400"/>
              </a:spcBef>
              <a:defRPr sz="1600" b="1">
                <a:solidFill>
                  <a:srgbClr val="FFFFFF"/>
                </a:solidFill>
                <a:latin typeface="Arial"/>
              </a:defRPr>
            </a:pPr>
            <a:r>
              <a:t>1.  Industry Context</a:t>
            </a:r>
          </a:p>
          <a:p>
            <a:pPr algn="l">
              <a:spcBef>
                <a:spcPts val="1400"/>
              </a:spcBef>
              <a:defRPr sz="1600" b="0">
                <a:solidFill>
                  <a:srgbClr val="BBBBBB"/>
                </a:solidFill>
                <a:latin typeface="Arial"/>
              </a:defRPr>
            </a:pPr>
            <a:r>
              <a:t>2.  Data &amp; Decisions</a:t>
            </a:r>
          </a:p>
          <a:p>
            <a:pPr algn="l">
              <a:spcBef>
                <a:spcPts val="1400"/>
              </a:spcBef>
              <a:defRPr sz="1600" b="0">
                <a:solidFill>
                  <a:srgbClr val="BBBBBB"/>
                </a:solidFill>
                <a:latin typeface="Arial"/>
              </a:defRPr>
            </a:pPr>
            <a:r>
              <a:t>3.  Why Timescale</a:t>
            </a:r>
          </a:p>
          <a:p>
            <a:pPr algn="l">
              <a:spcBef>
                <a:spcPts val="1400"/>
              </a:spcBef>
              <a:defRPr sz="1600" b="0">
                <a:solidFill>
                  <a:srgbClr val="BBBBBB"/>
                </a:solidFill>
                <a:latin typeface="Arial"/>
              </a:defRPr>
            </a:pPr>
            <a:r>
              <a:t>4.  Architecture &amp; Demo</a:t>
            </a:r>
          </a:p>
          <a:p>
            <a:pPr algn="l">
              <a:spcBef>
                <a:spcPts val="1400"/>
              </a:spcBef>
              <a:defRPr sz="1600" b="0">
                <a:solidFill>
                  <a:srgbClr val="BBBBBB"/>
                </a:solidFill>
                <a:latin typeface="Arial"/>
              </a:defRPr>
            </a:pPr>
            <a:r>
              <a:t>5.  Query Pack</a:t>
            </a:r>
          </a:p>
          <a:p>
            <a:pPr algn="l">
              <a:spcBef>
                <a:spcPts val="1400"/>
              </a:spcBef>
              <a:defRPr sz="1600" b="0">
                <a:solidFill>
                  <a:srgbClr val="BBBBBB"/>
                </a:solidFill>
                <a:latin typeface="Arial"/>
              </a:defRPr>
            </a:pPr>
            <a:r>
              <a:t>6.  Customer Proof Points</a:t>
            </a:r>
          </a:p>
          <a:p>
            <a:pPr algn="l">
              <a:spcBef>
                <a:spcPts val="1400"/>
              </a:spcBef>
              <a:defRPr sz="1600" b="0">
                <a:solidFill>
                  <a:srgbClr val="BBBBBB"/>
                </a:solidFill>
                <a:latin typeface="Arial"/>
              </a:defRPr>
            </a:pPr>
            <a:r>
              <a:t>7.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1645920"/>
            <a:ext cx="7680960" cy="548640"/>
          </a:xfrm>
          <a:prstGeom prst="rect">
            <a:avLst/>
          </a:prstGeom>
          <a:noFill/>
        </p:spPr>
        <p:txBody>
          <a:bodyPr wrap="square">
            <a:spAutoFit/>
          </a:bodyPr>
          <a:lstStyle/>
          <a:p>
            <a:pPr algn="l">
              <a:defRPr sz="4000" b="1">
                <a:solidFill>
                  <a:srgbClr val="4285F4"/>
                </a:solidFill>
                <a:latin typeface="Arial"/>
              </a:defRPr>
            </a:pPr>
            <a:r>
              <a:t>1.</a:t>
            </a:r>
          </a:p>
        </p:txBody>
      </p:sp>
      <p:sp>
        <p:nvSpPr>
          <p:cNvPr id="3" name="TextBox 2"/>
          <p:cNvSpPr txBox="1"/>
          <p:nvPr/>
        </p:nvSpPr>
        <p:spPr>
          <a:xfrm>
            <a:off x="731520" y="2286000"/>
            <a:ext cx="7680960" cy="914400"/>
          </a:xfrm>
          <a:prstGeom prst="rect">
            <a:avLst/>
          </a:prstGeom>
          <a:noFill/>
        </p:spPr>
        <p:txBody>
          <a:bodyPr wrap="square">
            <a:spAutoFit/>
          </a:bodyPr>
          <a:lstStyle/>
          <a:p>
            <a:pPr algn="l">
              <a:defRPr sz="2800" b="1">
                <a:solidFill>
                  <a:srgbClr val="FFFFFF"/>
                </a:solidFill>
                <a:latin typeface="Arial"/>
              </a:defRPr>
            </a:pPr>
            <a:r>
              <a:t>Industry Context</a:t>
            </a:r>
          </a:p>
        </p:txBody>
      </p:sp>
      <p:sp>
        <p:nvSpPr>
          <p:cNvPr id="4" name="TextBox 3"/>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731520" y="365760"/>
            <a:ext cx="7680960" cy="548640"/>
          </a:xfrm>
          <a:prstGeom prst="rect">
            <a:avLst/>
          </a:prstGeom>
          <a:noFill/>
        </p:spPr>
        <p:txBody>
          <a:bodyPr wrap="square">
            <a:spAutoFit/>
          </a:bodyPr>
          <a:lstStyle/>
          <a:p>
            <a:pPr algn="l">
              <a:defRPr sz="2200" b="1">
                <a:solidFill>
                  <a:srgbClr val="FFFFFF"/>
                </a:solidFill>
                <a:latin typeface="Arial"/>
              </a:defRPr>
            </a:pPr>
            <a:r>
              <a:t>What is BESS / VPP?</a:t>
            </a:r>
          </a:p>
        </p:txBody>
      </p:sp>
      <p:sp>
        <p:nvSpPr>
          <p:cNvPr id="3" name="TextBox 2"/>
          <p:cNvSpPr txBox="1"/>
          <p:nvPr/>
        </p:nvSpPr>
        <p:spPr>
          <a:xfrm>
            <a:off x="731520" y="1097280"/>
            <a:ext cx="7680960" cy="3474720"/>
          </a:xfrm>
          <a:prstGeom prst="rect">
            <a:avLst/>
          </a:prstGeom>
          <a:noFill/>
        </p:spPr>
        <p:txBody>
          <a:bodyPr wrap="square">
            <a:spAutoFit/>
          </a:bodyPr>
          <a:lstStyle/>
          <a:p>
            <a:pPr algn="l">
              <a:defRPr sz="1400" b="0">
                <a:solidFill>
                  <a:srgbClr val="BBBBBB"/>
                </a:solidFill>
                <a:latin typeface="Arial"/>
              </a:defRPr>
            </a:pPr>
          </a:p>
          <a:p>
            <a:pPr algn="l">
              <a:spcBef>
                <a:spcPts val="1200"/>
              </a:spcBef>
              <a:defRPr sz="1400" b="1">
                <a:solidFill>
                  <a:srgbClr val="FFFFFF"/>
                </a:solidFill>
                <a:latin typeface="Arial"/>
              </a:defRPr>
            </a:pPr>
            <a:r>
              <a:t>Battery Energy Storage Systems (BESS)</a:t>
            </a:r>
          </a:p>
          <a:p>
            <a:pPr algn="l">
              <a:spcBef>
                <a:spcPts val="800"/>
              </a:spcBef>
              <a:defRPr sz="1400" b="0">
                <a:solidFill>
                  <a:srgbClr val="BBBBBB"/>
                </a:solidFill>
                <a:latin typeface="Arial"/>
              </a:defRPr>
            </a:pPr>
            <a:r>
              <a:t>Systems that store electricity and release it when needed to:</a:t>
            </a:r>
          </a:p>
          <a:p>
            <a:pPr algn="l">
              <a:spcBef>
                <a:spcPts val="400"/>
              </a:spcBef>
              <a:defRPr sz="1200" b="0">
                <a:solidFill>
                  <a:srgbClr val="888888"/>
                </a:solidFill>
                <a:latin typeface="Arial"/>
              </a:defRPr>
            </a:pPr>
            <a:r>
              <a:t>    Balance supply and demand on the grid</a:t>
            </a:r>
          </a:p>
          <a:p>
            <a:pPr algn="l">
              <a:spcBef>
                <a:spcPts val="400"/>
              </a:spcBef>
              <a:defRPr sz="1200" b="0">
                <a:solidFill>
                  <a:srgbClr val="888888"/>
                </a:solidFill>
                <a:latin typeface="Arial"/>
              </a:defRPr>
            </a:pPr>
            <a:r>
              <a:t>    Stabilize frequency and voltage</a:t>
            </a:r>
          </a:p>
          <a:p>
            <a:pPr algn="l">
              <a:spcBef>
                <a:spcPts val="400"/>
              </a:spcBef>
              <a:defRPr sz="1200" b="0">
                <a:solidFill>
                  <a:srgbClr val="888888"/>
                </a:solidFill>
                <a:latin typeface="Arial"/>
              </a:defRPr>
            </a:pPr>
            <a:r>
              <a:t>    Optimize energy costs and generate market revenue</a:t>
            </a:r>
          </a:p>
          <a:p>
            <a:pPr algn="l">
              <a:spcBef>
                <a:spcPts val="400"/>
              </a:spcBef>
              <a:defRPr sz="1200" b="0">
                <a:solidFill>
                  <a:srgbClr val="888888"/>
                </a:solidFill>
                <a:latin typeface="Arial"/>
              </a:defRPr>
            </a:pPr>
            <a:r>
              <a:t>    Typical scale: 100–1,000 MWh utility-scale installations</a:t>
            </a:r>
          </a:p>
          <a:p>
            <a:pPr algn="l">
              <a:spcBef>
                <a:spcPts val="800"/>
              </a:spcBef>
              <a:defRPr sz="1400" b="0">
                <a:solidFill>
                  <a:srgbClr val="BBBBBB"/>
                </a:solidFill>
                <a:latin typeface="Arial"/>
              </a:defRPr>
            </a:pPr>
          </a:p>
          <a:p>
            <a:pPr algn="l">
              <a:spcBef>
                <a:spcPts val="1200"/>
              </a:spcBef>
              <a:defRPr sz="1400" b="1">
                <a:solidFill>
                  <a:srgbClr val="FFFFFF"/>
                </a:solidFill>
                <a:latin typeface="Arial"/>
              </a:defRPr>
            </a:pPr>
            <a:r>
              <a:t>Virtual Power Plants (VPP)</a:t>
            </a:r>
          </a:p>
          <a:p>
            <a:pPr algn="l">
              <a:spcBef>
                <a:spcPts val="800"/>
              </a:spcBef>
              <a:defRPr sz="1400" b="0">
                <a:solidFill>
                  <a:srgbClr val="BBBBBB"/>
                </a:solidFill>
                <a:latin typeface="Arial"/>
              </a:defRPr>
            </a:pPr>
            <a:r>
              <a:t>Software platforms that aggregate batteries, solar, EVs, and flexible loads</a:t>
            </a:r>
          </a:p>
          <a:p>
            <a:pPr algn="l">
              <a:spcBef>
                <a:spcPts val="400"/>
              </a:spcBef>
              <a:defRPr sz="1200" b="0">
                <a:solidFill>
                  <a:srgbClr val="888888"/>
                </a:solidFill>
                <a:latin typeface="Arial"/>
              </a:defRPr>
            </a:pPr>
            <a:r>
              <a:t>    Operate them as a single coordinated power plant</a:t>
            </a:r>
          </a:p>
          <a:p>
            <a:pPr algn="l">
              <a:spcBef>
                <a:spcPts val="800"/>
              </a:spcBef>
              <a:defRPr sz="1300" b="1">
                <a:solidFill>
                  <a:srgbClr val="FFAB40"/>
                </a:solidFill>
                <a:latin typeface="Arial"/>
              </a:defRPr>
            </a:pPr>
            <a:r>
              <a:t>Core idea: BESS/VPP platforms are real-time systems that turn energy data into operational decisions.</a:t>
            </a:r>
          </a:p>
        </p:txBody>
      </p:sp>
      <p:sp>
        <p:nvSpPr>
          <p:cNvPr id="4" name="TextBox 3"/>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731520" y="365760"/>
            <a:ext cx="7680960" cy="548640"/>
          </a:xfrm>
          <a:prstGeom prst="rect">
            <a:avLst/>
          </a:prstGeom>
          <a:noFill/>
        </p:spPr>
        <p:txBody>
          <a:bodyPr wrap="square">
            <a:spAutoFit/>
          </a:bodyPr>
          <a:lstStyle/>
          <a:p>
            <a:pPr algn="l">
              <a:defRPr sz="2200" b="1">
                <a:solidFill>
                  <a:srgbClr val="FFFFFF"/>
                </a:solidFill>
                <a:latin typeface="Arial"/>
              </a:defRPr>
            </a:pPr>
            <a:r>
              <a:t>The Operators Behind BESS</a:t>
            </a:r>
          </a:p>
        </p:txBody>
      </p:sp>
      <p:sp>
        <p:nvSpPr>
          <p:cNvPr id="3" name="TextBox 2"/>
          <p:cNvSpPr txBox="1"/>
          <p:nvPr/>
        </p:nvSpPr>
        <p:spPr>
          <a:xfrm>
            <a:off x="731520" y="1097280"/>
            <a:ext cx="7680960" cy="3474720"/>
          </a:xfrm>
          <a:prstGeom prst="rect">
            <a:avLst/>
          </a:prstGeom>
          <a:noFill/>
        </p:spPr>
        <p:txBody>
          <a:bodyPr wrap="square">
            <a:spAutoFit/>
          </a:bodyPr>
          <a:lstStyle/>
          <a:p>
            <a:pPr algn="l">
              <a:defRPr sz="1400" b="0">
                <a:solidFill>
                  <a:srgbClr val="BBBBBB"/>
                </a:solidFill>
                <a:latin typeface="Arial"/>
              </a:defRPr>
            </a:pPr>
          </a:p>
          <a:p>
            <a:pPr algn="l">
              <a:spcBef>
                <a:spcPts val="1200"/>
              </a:spcBef>
              <a:defRPr sz="1400" b="1">
                <a:solidFill>
                  <a:srgbClr val="FFFFFF"/>
                </a:solidFill>
                <a:latin typeface="Arial"/>
              </a:defRPr>
            </a:pPr>
            <a:r>
              <a:t>BESS Operator</a:t>
            </a:r>
          </a:p>
          <a:p>
            <a:pPr algn="l">
              <a:spcBef>
                <a:spcPts val="400"/>
              </a:spcBef>
              <a:defRPr sz="1200" b="0">
                <a:solidFill>
                  <a:srgbClr val="888888"/>
                </a:solidFill>
                <a:latin typeface="Arial"/>
              </a:defRPr>
            </a:pPr>
            <a:r>
              <a:t>    Monitors system performance, ensures availability and uptime</a:t>
            </a:r>
          </a:p>
          <a:p>
            <a:pPr algn="l">
              <a:spcBef>
                <a:spcPts val="1200"/>
              </a:spcBef>
              <a:defRPr sz="1400" b="1">
                <a:solidFill>
                  <a:srgbClr val="FFFFFF"/>
                </a:solidFill>
                <a:latin typeface="Arial"/>
              </a:defRPr>
            </a:pPr>
            <a:r>
              <a:t>Energy Trader / Optimizer</a:t>
            </a:r>
          </a:p>
          <a:p>
            <a:pPr algn="l">
              <a:spcBef>
                <a:spcPts val="400"/>
              </a:spcBef>
              <a:defRPr sz="1200" b="0">
                <a:solidFill>
                  <a:srgbClr val="888888"/>
                </a:solidFill>
                <a:latin typeface="Arial"/>
              </a:defRPr>
            </a:pPr>
            <a:r>
              <a:t>    Maximizes revenue from price signals, decides when to charge/discharge</a:t>
            </a:r>
          </a:p>
          <a:p>
            <a:pPr algn="l">
              <a:spcBef>
                <a:spcPts val="1200"/>
              </a:spcBef>
              <a:defRPr sz="1400" b="1">
                <a:solidFill>
                  <a:srgbClr val="FFFFFF"/>
                </a:solidFill>
                <a:latin typeface="Arial"/>
              </a:defRPr>
            </a:pPr>
            <a:r>
              <a:t>Asset Manager</a:t>
            </a:r>
          </a:p>
          <a:p>
            <a:pPr algn="l">
              <a:spcBef>
                <a:spcPts val="400"/>
              </a:spcBef>
              <a:defRPr sz="1200" b="0">
                <a:solidFill>
                  <a:srgbClr val="888888"/>
                </a:solidFill>
                <a:latin typeface="Arial"/>
              </a:defRPr>
            </a:pPr>
            <a:r>
              <a:t>    Tracks battery health (SoH), manages maintenance and lifecycle</a:t>
            </a:r>
          </a:p>
          <a:p>
            <a:pPr algn="l">
              <a:spcBef>
                <a:spcPts val="1200"/>
              </a:spcBef>
              <a:defRPr sz="1400" b="1">
                <a:solidFill>
                  <a:srgbClr val="FFFFFF"/>
                </a:solidFill>
                <a:latin typeface="Arial"/>
              </a:defRPr>
            </a:pPr>
            <a:r>
              <a:t>Grid / System Operator</a:t>
            </a:r>
          </a:p>
          <a:p>
            <a:pPr algn="l">
              <a:spcBef>
                <a:spcPts val="400"/>
              </a:spcBef>
              <a:defRPr sz="1200" b="0">
                <a:solidFill>
                  <a:srgbClr val="888888"/>
                </a:solidFill>
                <a:latin typeface="Arial"/>
              </a:defRPr>
            </a:pPr>
            <a:r>
              <a:t>    Ensures grid stability, dispatches assets when needed</a:t>
            </a:r>
          </a:p>
          <a:p>
            <a:pPr algn="l">
              <a:spcBef>
                <a:spcPts val="1200"/>
              </a:spcBef>
              <a:defRPr sz="1400" b="1">
                <a:solidFill>
                  <a:srgbClr val="FFFFFF"/>
                </a:solidFill>
                <a:latin typeface="Arial"/>
              </a:defRPr>
            </a:pPr>
            <a:r>
              <a:t>Platform / Software Teams</a:t>
            </a:r>
          </a:p>
          <a:p>
            <a:pPr algn="l">
              <a:spcBef>
                <a:spcPts val="400"/>
              </a:spcBef>
              <a:defRPr sz="1200" b="0">
                <a:solidFill>
                  <a:srgbClr val="888888"/>
                </a:solidFill>
                <a:latin typeface="Arial"/>
              </a:defRPr>
            </a:pPr>
            <a:r>
              <a:t>    Build EMS, SCADA, and analytics systems that power the above workflows</a:t>
            </a:r>
          </a:p>
        </p:txBody>
      </p:sp>
      <p:sp>
        <p:nvSpPr>
          <p:cNvPr id="4" name="TextBox 3"/>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731520" y="365760"/>
            <a:ext cx="7680960" cy="548640"/>
          </a:xfrm>
          <a:prstGeom prst="rect">
            <a:avLst/>
          </a:prstGeom>
          <a:noFill/>
        </p:spPr>
        <p:txBody>
          <a:bodyPr wrap="square">
            <a:spAutoFit/>
          </a:bodyPr>
          <a:lstStyle/>
          <a:p>
            <a:pPr algn="l">
              <a:defRPr sz="2200" b="1">
                <a:solidFill>
                  <a:srgbClr val="FFFFFF"/>
                </a:solidFill>
                <a:latin typeface="Arial"/>
              </a:defRPr>
            </a:pPr>
            <a:r>
              <a:t>Core Operational Workflows</a:t>
            </a:r>
          </a:p>
        </p:txBody>
      </p:sp>
      <p:sp>
        <p:nvSpPr>
          <p:cNvPr id="3" name="TextBox 2"/>
          <p:cNvSpPr txBox="1"/>
          <p:nvPr/>
        </p:nvSpPr>
        <p:spPr>
          <a:xfrm>
            <a:off x="731520" y="1097280"/>
            <a:ext cx="7680960" cy="3474720"/>
          </a:xfrm>
          <a:prstGeom prst="rect">
            <a:avLst/>
          </a:prstGeom>
          <a:noFill/>
        </p:spPr>
        <p:txBody>
          <a:bodyPr wrap="square">
            <a:spAutoFit/>
          </a:bodyPr>
          <a:lstStyle/>
          <a:p>
            <a:pPr algn="l">
              <a:defRPr sz="1400" b="0">
                <a:solidFill>
                  <a:srgbClr val="BBBBBB"/>
                </a:solidFill>
                <a:latin typeface="Arial"/>
              </a:defRPr>
            </a:pPr>
          </a:p>
          <a:p>
            <a:pPr algn="l">
              <a:spcBef>
                <a:spcPts val="1200"/>
              </a:spcBef>
              <a:defRPr sz="1400" b="1">
                <a:solidFill>
                  <a:srgbClr val="FFFFFF"/>
                </a:solidFill>
                <a:latin typeface="Arial"/>
              </a:defRPr>
            </a:pPr>
            <a:r>
              <a:t>Real-time monitoring</a:t>
            </a:r>
          </a:p>
          <a:p>
            <a:pPr algn="l">
              <a:spcBef>
                <a:spcPts val="400"/>
              </a:spcBef>
              <a:defRPr sz="1200" b="0">
                <a:solidFill>
                  <a:srgbClr val="888888"/>
                </a:solidFill>
                <a:latin typeface="Arial"/>
              </a:defRPr>
            </a:pPr>
            <a:r>
              <a:t>    Power output, state of charge, temperature, grid frequency — every few seconds</a:t>
            </a:r>
          </a:p>
          <a:p>
            <a:pPr algn="l">
              <a:spcBef>
                <a:spcPts val="1200"/>
              </a:spcBef>
              <a:defRPr sz="1400" b="1">
                <a:solidFill>
                  <a:srgbClr val="FFFFFF"/>
                </a:solidFill>
                <a:latin typeface="Arial"/>
              </a:defRPr>
            </a:pPr>
            <a:r>
              <a:t>Dispatch execution</a:t>
            </a:r>
          </a:p>
          <a:p>
            <a:pPr algn="l">
              <a:spcBef>
                <a:spcPts val="400"/>
              </a:spcBef>
              <a:defRPr sz="1200" b="0">
                <a:solidFill>
                  <a:srgbClr val="888888"/>
                </a:solidFill>
                <a:latin typeface="Arial"/>
              </a:defRPr>
            </a:pPr>
            <a:r>
              <a:t>    Charge and discharge commands driven by market signals or grid needs</a:t>
            </a:r>
          </a:p>
          <a:p>
            <a:pPr algn="l">
              <a:spcBef>
                <a:spcPts val="1200"/>
              </a:spcBef>
              <a:defRPr sz="1400" b="1">
                <a:solidFill>
                  <a:srgbClr val="FFFFFF"/>
                </a:solidFill>
                <a:latin typeface="Arial"/>
              </a:defRPr>
            </a:pPr>
            <a:r>
              <a:t>Market participation</a:t>
            </a:r>
          </a:p>
          <a:p>
            <a:pPr algn="l">
              <a:spcBef>
                <a:spcPts val="400"/>
              </a:spcBef>
              <a:defRPr sz="1200" b="0">
                <a:solidFill>
                  <a:srgbClr val="888888"/>
                </a:solidFill>
                <a:latin typeface="Arial"/>
              </a:defRPr>
            </a:pPr>
            <a:r>
              <a:t>    Respond to ISO/RTO price signals (CAISO, ERCOT, PJM) on 5-15 minute intervals</a:t>
            </a:r>
          </a:p>
          <a:p>
            <a:pPr algn="l">
              <a:spcBef>
                <a:spcPts val="1200"/>
              </a:spcBef>
              <a:defRPr sz="1400" b="1">
                <a:solidFill>
                  <a:srgbClr val="FFFFFF"/>
                </a:solidFill>
                <a:latin typeface="Arial"/>
              </a:defRPr>
            </a:pPr>
            <a:r>
              <a:t>Asset health &amp; maintenance</a:t>
            </a:r>
          </a:p>
          <a:p>
            <a:pPr algn="l">
              <a:spcBef>
                <a:spcPts val="400"/>
              </a:spcBef>
              <a:defRPr sz="1200" b="0">
                <a:solidFill>
                  <a:srgbClr val="888888"/>
                </a:solidFill>
                <a:latin typeface="Arial"/>
              </a:defRPr>
            </a:pPr>
            <a:r>
              <a:t>    Track degradation, plan maintenance windows, manage fleet lifecycle</a:t>
            </a:r>
          </a:p>
          <a:p>
            <a:pPr algn="l">
              <a:spcBef>
                <a:spcPts val="1200"/>
              </a:spcBef>
              <a:defRPr sz="1400" b="1">
                <a:solidFill>
                  <a:srgbClr val="FFFFFF"/>
                </a:solidFill>
                <a:latin typeface="Arial"/>
              </a:defRPr>
            </a:pPr>
            <a:r>
              <a:t>Historical performance analysis</a:t>
            </a:r>
          </a:p>
          <a:p>
            <a:pPr algn="l">
              <a:spcBef>
                <a:spcPts val="400"/>
              </a:spcBef>
              <a:defRPr sz="1200" b="0">
                <a:solidFill>
                  <a:srgbClr val="888888"/>
                </a:solidFill>
                <a:latin typeface="Arial"/>
              </a:defRPr>
            </a:pPr>
            <a:r>
              <a:t>    Was the dispatch optimal? How is the fleet trending over months/years?</a:t>
            </a:r>
          </a:p>
        </p:txBody>
      </p:sp>
      <p:sp>
        <p:nvSpPr>
          <p:cNvPr id="4" name="TextBox 3"/>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1645920"/>
            <a:ext cx="7680960" cy="548640"/>
          </a:xfrm>
          <a:prstGeom prst="rect">
            <a:avLst/>
          </a:prstGeom>
          <a:noFill/>
        </p:spPr>
        <p:txBody>
          <a:bodyPr wrap="square">
            <a:spAutoFit/>
          </a:bodyPr>
          <a:lstStyle/>
          <a:p>
            <a:pPr algn="l">
              <a:defRPr sz="4000" b="1">
                <a:solidFill>
                  <a:srgbClr val="4285F4"/>
                </a:solidFill>
                <a:latin typeface="Arial"/>
              </a:defRPr>
            </a:pPr>
            <a:r>
              <a:t>2.</a:t>
            </a:r>
          </a:p>
        </p:txBody>
      </p:sp>
      <p:sp>
        <p:nvSpPr>
          <p:cNvPr id="3" name="TextBox 2"/>
          <p:cNvSpPr txBox="1"/>
          <p:nvPr/>
        </p:nvSpPr>
        <p:spPr>
          <a:xfrm>
            <a:off x="731520" y="2286000"/>
            <a:ext cx="7680960" cy="914400"/>
          </a:xfrm>
          <a:prstGeom prst="rect">
            <a:avLst/>
          </a:prstGeom>
          <a:noFill/>
        </p:spPr>
        <p:txBody>
          <a:bodyPr wrap="square">
            <a:spAutoFit/>
          </a:bodyPr>
          <a:lstStyle/>
          <a:p>
            <a:pPr algn="l">
              <a:defRPr sz="2800" b="1">
                <a:solidFill>
                  <a:srgbClr val="FFFFFF"/>
                </a:solidFill>
                <a:latin typeface="Arial"/>
              </a:defRPr>
            </a:pPr>
            <a:r>
              <a:t>Data &amp; Decisions</a:t>
            </a:r>
          </a:p>
        </p:txBody>
      </p:sp>
      <p:sp>
        <p:nvSpPr>
          <p:cNvPr id="4" name="TextBox 3"/>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731520" y="365760"/>
            <a:ext cx="7680960" cy="548640"/>
          </a:xfrm>
          <a:prstGeom prst="rect">
            <a:avLst/>
          </a:prstGeom>
          <a:noFill/>
        </p:spPr>
        <p:txBody>
          <a:bodyPr wrap="square">
            <a:spAutoFit/>
          </a:bodyPr>
          <a:lstStyle/>
          <a:p>
            <a:pPr algn="l">
              <a:defRPr sz="2200" b="1">
                <a:solidFill>
                  <a:srgbClr val="FFFFFF"/>
                </a:solidFill>
                <a:latin typeface="Arial"/>
              </a:defRPr>
            </a:pPr>
            <a:r>
              <a:t>The Data That Powers BESS</a:t>
            </a:r>
          </a:p>
        </p:txBody>
      </p:sp>
      <p:sp>
        <p:nvSpPr>
          <p:cNvPr id="3" name="TextBox 2"/>
          <p:cNvSpPr txBox="1"/>
          <p:nvPr/>
        </p:nvSpPr>
        <p:spPr>
          <a:xfrm>
            <a:off x="731520" y="1097280"/>
            <a:ext cx="7680960" cy="3474720"/>
          </a:xfrm>
          <a:prstGeom prst="rect">
            <a:avLst/>
          </a:prstGeom>
          <a:noFill/>
        </p:spPr>
        <p:txBody>
          <a:bodyPr wrap="square">
            <a:spAutoFit/>
          </a:bodyPr>
          <a:lstStyle/>
          <a:p>
            <a:pPr algn="l">
              <a:defRPr sz="1400" b="0">
                <a:solidFill>
                  <a:srgbClr val="BBBBBB"/>
                </a:solidFill>
                <a:latin typeface="Arial"/>
              </a:defRPr>
            </a:pPr>
          </a:p>
          <a:p>
            <a:pPr algn="l">
              <a:spcBef>
                <a:spcPts val="1200"/>
              </a:spcBef>
              <a:defRPr sz="1400" b="1">
                <a:solidFill>
                  <a:srgbClr val="FFFFFF"/>
                </a:solidFill>
                <a:latin typeface="Arial"/>
              </a:defRPr>
            </a:pPr>
            <a:r>
              <a:t>Telemetry (high-frequency)</a:t>
            </a:r>
          </a:p>
          <a:p>
            <a:pPr algn="l">
              <a:spcBef>
                <a:spcPts val="400"/>
              </a:spcBef>
              <a:defRPr sz="1200" b="0">
                <a:solidFill>
                  <a:srgbClr val="888888"/>
                </a:solidFill>
                <a:latin typeface="Arial"/>
              </a:defRPr>
            </a:pPr>
            <a:r>
              <a:t>    Power, SoC, SoH, cell voltage, rack temperature, inverter efficiency — every 1-10 seconds</a:t>
            </a:r>
          </a:p>
          <a:p>
            <a:pPr algn="l">
              <a:spcBef>
                <a:spcPts val="1200"/>
              </a:spcBef>
              <a:defRPr sz="1400" b="1">
                <a:solidFill>
                  <a:srgbClr val="FFFFFF"/>
                </a:solidFill>
                <a:latin typeface="Arial"/>
              </a:defRPr>
            </a:pPr>
            <a:r>
              <a:t>Alarms &amp; Events</a:t>
            </a:r>
          </a:p>
          <a:p>
            <a:pPr algn="l">
              <a:spcBef>
                <a:spcPts val="400"/>
              </a:spcBef>
              <a:defRPr sz="1200" b="0">
                <a:solidFill>
                  <a:srgbClr val="888888"/>
                </a:solidFill>
                <a:latin typeface="Arial"/>
              </a:defRPr>
            </a:pPr>
            <a:r>
              <a:t>    Faults, warnings, state changes from BMS, PCS, HVAC — event-driven</a:t>
            </a:r>
          </a:p>
          <a:p>
            <a:pPr algn="l">
              <a:spcBef>
                <a:spcPts val="1200"/>
              </a:spcBef>
              <a:defRPr sz="1400" b="1">
                <a:solidFill>
                  <a:srgbClr val="FFFFFF"/>
                </a:solidFill>
                <a:latin typeface="Arial"/>
              </a:defRPr>
            </a:pPr>
            <a:r>
              <a:t>Dispatch Commands</a:t>
            </a:r>
          </a:p>
          <a:p>
            <a:pPr algn="l">
              <a:spcBef>
                <a:spcPts val="400"/>
              </a:spcBef>
              <a:defRPr sz="1200" b="0">
                <a:solidFill>
                  <a:srgbClr val="888888"/>
                </a:solidFill>
                <a:latin typeface="Arial"/>
              </a:defRPr>
            </a:pPr>
            <a:r>
              <a:t>    Charge/discharge instructions from SCADA, EMS, or automated optimizer</a:t>
            </a:r>
          </a:p>
          <a:p>
            <a:pPr algn="l">
              <a:spcBef>
                <a:spcPts val="1200"/>
              </a:spcBef>
              <a:defRPr sz="1400" b="1">
                <a:solidFill>
                  <a:srgbClr val="FFFFFF"/>
                </a:solidFill>
                <a:latin typeface="Arial"/>
              </a:defRPr>
            </a:pPr>
            <a:r>
              <a:t>Market Price Signals</a:t>
            </a:r>
          </a:p>
          <a:p>
            <a:pPr algn="l">
              <a:spcBef>
                <a:spcPts val="400"/>
              </a:spcBef>
              <a:defRPr sz="1200" b="0">
                <a:solidFill>
                  <a:srgbClr val="888888"/>
                </a:solidFill>
                <a:latin typeface="Arial"/>
              </a:defRPr>
            </a:pPr>
            <a:r>
              <a:t>    Real-time LMP prices from ISO/RTO markets (CAISO, ERCOT, PJM) — every 5 minutes</a:t>
            </a:r>
          </a:p>
          <a:p>
            <a:pPr algn="l">
              <a:spcBef>
                <a:spcPts val="1200"/>
              </a:spcBef>
              <a:defRPr sz="1400" b="1">
                <a:solidFill>
                  <a:srgbClr val="FFFFFF"/>
                </a:solidFill>
                <a:latin typeface="Arial"/>
              </a:defRPr>
            </a:pPr>
            <a:r>
              <a:t>Maintenance &amp; Asset Data</a:t>
            </a:r>
          </a:p>
          <a:p>
            <a:pPr algn="l">
              <a:spcBef>
                <a:spcPts val="400"/>
              </a:spcBef>
              <a:defRPr sz="1200" b="0">
                <a:solidFill>
                  <a:srgbClr val="888888"/>
                </a:solidFill>
                <a:latin typeface="Arial"/>
              </a:defRPr>
            </a:pPr>
            <a:r>
              <a:t>    Work orders, logs, technician records, asset hierarchy, configuration</a:t>
            </a:r>
          </a:p>
        </p:txBody>
      </p:sp>
      <p:sp>
        <p:nvSpPr>
          <p:cNvPr id="4" name="TextBox 3"/>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731520" y="365760"/>
            <a:ext cx="7680960" cy="548640"/>
          </a:xfrm>
          <a:prstGeom prst="rect">
            <a:avLst/>
          </a:prstGeom>
          <a:noFill/>
        </p:spPr>
        <p:txBody>
          <a:bodyPr wrap="square">
            <a:spAutoFit/>
          </a:bodyPr>
          <a:lstStyle/>
          <a:p>
            <a:pPr algn="l">
              <a:defRPr sz="2200" b="1">
                <a:solidFill>
                  <a:srgbClr val="FFFFFF"/>
                </a:solidFill>
                <a:latin typeface="Arial"/>
              </a:defRPr>
            </a:pPr>
            <a:r>
              <a:t>The Decisions That Matter</a:t>
            </a:r>
          </a:p>
        </p:txBody>
      </p:sp>
      <p:sp>
        <p:nvSpPr>
          <p:cNvPr id="3" name="TextBox 2"/>
          <p:cNvSpPr txBox="1"/>
          <p:nvPr/>
        </p:nvSpPr>
        <p:spPr>
          <a:xfrm>
            <a:off x="731520" y="1097280"/>
            <a:ext cx="7680960" cy="3474720"/>
          </a:xfrm>
          <a:prstGeom prst="rect">
            <a:avLst/>
          </a:prstGeom>
          <a:noFill/>
        </p:spPr>
        <p:txBody>
          <a:bodyPr wrap="square">
            <a:spAutoFit/>
          </a:bodyPr>
          <a:lstStyle/>
          <a:p>
            <a:pPr algn="l">
              <a:defRPr sz="1400" b="0">
                <a:solidFill>
                  <a:srgbClr val="BBBBBB"/>
                </a:solidFill>
                <a:latin typeface="Arial"/>
              </a:defRPr>
            </a:pPr>
          </a:p>
          <a:p>
            <a:pPr algn="l">
              <a:spcBef>
                <a:spcPts val="1200"/>
              </a:spcBef>
              <a:defRPr sz="1400" b="1">
                <a:solidFill>
                  <a:srgbClr val="FFFFFF"/>
                </a:solidFill>
                <a:latin typeface="Arial"/>
              </a:defRPr>
            </a:pPr>
            <a:r>
              <a:t>⚡ Should I dispatch power right now?</a:t>
            </a:r>
          </a:p>
          <a:p>
            <a:pPr algn="l">
              <a:spcBef>
                <a:spcPts val="400"/>
              </a:spcBef>
              <a:defRPr sz="1200" b="0">
                <a:solidFill>
                  <a:srgbClr val="888888"/>
                </a:solidFill>
                <a:latin typeface="Arial"/>
              </a:defRPr>
            </a:pPr>
            <a:r>
              <a:t>    Combine SoC, SoH, availability, and market price to rank sites</a:t>
            </a:r>
          </a:p>
          <a:p>
            <a:pPr algn="l">
              <a:spcBef>
                <a:spcPts val="1200"/>
              </a:spcBef>
              <a:defRPr sz="1400" b="1">
                <a:solidFill>
                  <a:srgbClr val="FFFFFF"/>
                </a:solidFill>
                <a:latin typeface="Arial"/>
              </a:defRPr>
            </a:pPr>
            <a:r>
              <a:t>💰 Where am I making or losing money?</a:t>
            </a:r>
          </a:p>
          <a:p>
            <a:pPr algn="l">
              <a:spcBef>
                <a:spcPts val="400"/>
              </a:spcBef>
              <a:defRPr sz="1200" b="0">
                <a:solidFill>
                  <a:srgbClr val="888888"/>
                </a:solidFill>
                <a:latin typeface="Arial"/>
              </a:defRPr>
            </a:pPr>
            <a:r>
              <a:t>    Cross-reference dispatch history with price windows to find missed revenue</a:t>
            </a:r>
          </a:p>
          <a:p>
            <a:pPr algn="l">
              <a:spcBef>
                <a:spcPts val="1200"/>
              </a:spcBef>
              <a:defRPr sz="1400" b="1">
                <a:solidFill>
                  <a:srgbClr val="FFFFFF"/>
                </a:solidFill>
                <a:latin typeface="Arial"/>
              </a:defRPr>
            </a:pPr>
            <a:r>
              <a:t>⚠️ Which assets are at risk or failing?</a:t>
            </a:r>
          </a:p>
          <a:p>
            <a:pPr algn="l">
              <a:spcBef>
                <a:spcPts val="400"/>
              </a:spcBef>
              <a:defRPr sz="1200" b="0">
                <a:solidFill>
                  <a:srgbClr val="888888"/>
                </a:solidFill>
                <a:latin typeface="Arial"/>
              </a:defRPr>
            </a:pPr>
            <a:r>
              <a:t>    Correlate alarms, maintenance logs, and telemetry trends per asset</a:t>
            </a:r>
          </a:p>
          <a:p>
            <a:pPr algn="l">
              <a:spcBef>
                <a:spcPts val="1200"/>
              </a:spcBef>
              <a:defRPr sz="1400" b="1">
                <a:solidFill>
                  <a:srgbClr val="FFFFFF"/>
                </a:solidFill>
                <a:latin typeface="Arial"/>
              </a:defRPr>
            </a:pPr>
            <a:r>
              <a:t>📉 Did we execute optimally vs market signals?</a:t>
            </a:r>
          </a:p>
          <a:p>
            <a:pPr algn="l">
              <a:spcBef>
                <a:spcPts val="400"/>
              </a:spcBef>
              <a:defRPr sz="1200" b="0">
                <a:solidFill>
                  <a:srgbClr val="888888"/>
                </a:solidFill>
                <a:latin typeface="Arial"/>
              </a:defRPr>
            </a:pPr>
            <a:r>
              <a:t>    Overlay dispatch events on price curves to evaluate trading performance</a:t>
            </a:r>
          </a:p>
          <a:p>
            <a:pPr algn="l">
              <a:spcBef>
                <a:spcPts val="1200"/>
              </a:spcBef>
              <a:defRPr sz="1400" b="1">
                <a:solidFill>
                  <a:srgbClr val="FFFFFF"/>
                </a:solidFill>
                <a:latin typeface="Arial"/>
              </a:defRPr>
            </a:pPr>
            <a:r>
              <a:t>📈 How is the fleet performing over time?</a:t>
            </a:r>
          </a:p>
          <a:p>
            <a:pPr algn="l">
              <a:spcBef>
                <a:spcPts val="400"/>
              </a:spcBef>
              <a:defRPr sz="1200" b="0">
                <a:solidFill>
                  <a:srgbClr val="888888"/>
                </a:solidFill>
                <a:latin typeface="Arial"/>
              </a:defRPr>
            </a:pPr>
            <a:r>
              <a:t>    Multi-resolution historical analytics from seconds to years</a:t>
            </a:r>
          </a:p>
        </p:txBody>
      </p:sp>
      <p:sp>
        <p:nvSpPr>
          <p:cNvPr id="4" name="TextBox 3"/>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371600"/>
            <a:ext cx="7315200" cy="1828800"/>
          </a:xfrm>
          <a:prstGeom prst="rect">
            <a:avLst/>
          </a:prstGeom>
          <a:noFill/>
        </p:spPr>
        <p:txBody>
          <a:bodyPr wrap="square">
            <a:spAutoFit/>
          </a:bodyPr>
          <a:lstStyle/>
          <a:p>
            <a:pPr algn="ctr">
              <a:defRPr sz="2400" b="1">
                <a:solidFill>
                  <a:srgbClr val="FFFFFF"/>
                </a:solidFill>
                <a:latin typeface="Arial"/>
              </a:defRPr>
            </a:pPr>
            <a:r>
              <a:t>The value is not in the data —</a:t>
            </a:r>
            <a:br/>
            <a:r>
              <a:t>it's in the decisions made from the data.</a:t>
            </a:r>
          </a:p>
        </p:txBody>
      </p:sp>
      <p:sp>
        <p:nvSpPr>
          <p:cNvPr id="3" name="TextBox 2"/>
          <p:cNvSpPr txBox="1"/>
          <p:nvPr/>
        </p:nvSpPr>
        <p:spPr>
          <a:xfrm>
            <a:off x="914400" y="3474720"/>
            <a:ext cx="7315200" cy="457200"/>
          </a:xfrm>
          <a:prstGeom prst="rect">
            <a:avLst/>
          </a:prstGeom>
          <a:noFill/>
        </p:spPr>
        <p:txBody>
          <a:bodyPr wrap="square">
            <a:spAutoFit/>
          </a:bodyPr>
          <a:lstStyle/>
          <a:p>
            <a:pPr algn="ctr">
              <a:defRPr sz="1200" b="0">
                <a:solidFill>
                  <a:srgbClr val="888888"/>
                </a:solidFill>
                <a:latin typeface="Arial"/>
              </a:defRPr>
            </a:pPr>
            <a:r>
              <a:t>Every query in a BESS platform should answer a question that drives an action.</a:t>
            </a:r>
          </a:p>
        </p:txBody>
      </p:sp>
      <p:sp>
        <p:nvSpPr>
          <p:cNvPr id="4" name="TextBox 3"/>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1645920"/>
            <a:ext cx="7680960" cy="548640"/>
          </a:xfrm>
          <a:prstGeom prst="rect">
            <a:avLst/>
          </a:prstGeom>
          <a:noFill/>
        </p:spPr>
        <p:txBody>
          <a:bodyPr wrap="square">
            <a:spAutoFit/>
          </a:bodyPr>
          <a:lstStyle/>
          <a:p>
            <a:pPr algn="l">
              <a:defRPr sz="4000" b="1">
                <a:solidFill>
                  <a:srgbClr val="4285F4"/>
                </a:solidFill>
                <a:latin typeface="Arial"/>
              </a:defRPr>
            </a:pPr>
            <a:r>
              <a:t>3.</a:t>
            </a:r>
          </a:p>
        </p:txBody>
      </p:sp>
      <p:sp>
        <p:nvSpPr>
          <p:cNvPr id="3" name="TextBox 2"/>
          <p:cNvSpPr txBox="1"/>
          <p:nvPr/>
        </p:nvSpPr>
        <p:spPr>
          <a:xfrm>
            <a:off x="731520" y="2286000"/>
            <a:ext cx="7680960" cy="914400"/>
          </a:xfrm>
          <a:prstGeom prst="rect">
            <a:avLst/>
          </a:prstGeom>
          <a:noFill/>
        </p:spPr>
        <p:txBody>
          <a:bodyPr wrap="square">
            <a:spAutoFit/>
          </a:bodyPr>
          <a:lstStyle/>
          <a:p>
            <a:pPr algn="l">
              <a:defRPr sz="2800" b="1">
                <a:solidFill>
                  <a:srgbClr val="FFFFFF"/>
                </a:solidFill>
                <a:latin typeface="Arial"/>
              </a:defRPr>
            </a:pPr>
            <a:r>
              <a:t>Why Timescale</a:t>
            </a:r>
          </a:p>
        </p:txBody>
      </p:sp>
      <p:sp>
        <p:nvSpPr>
          <p:cNvPr id="4" name="TextBox 3"/>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731520" y="365760"/>
            <a:ext cx="7680960" cy="548640"/>
          </a:xfrm>
          <a:prstGeom prst="rect">
            <a:avLst/>
          </a:prstGeom>
          <a:noFill/>
        </p:spPr>
        <p:txBody>
          <a:bodyPr wrap="square">
            <a:spAutoFit/>
          </a:bodyPr>
          <a:lstStyle/>
          <a:p>
            <a:pPr algn="l">
              <a:defRPr sz="2200" b="1">
                <a:solidFill>
                  <a:srgbClr val="FFFFFF"/>
                </a:solidFill>
                <a:latin typeface="Arial"/>
              </a:defRPr>
            </a:pPr>
            <a:r>
              <a:t>What BESS Systems Require</a:t>
            </a:r>
          </a:p>
        </p:txBody>
      </p:sp>
      <p:sp>
        <p:nvSpPr>
          <p:cNvPr id="3" name="TextBox 2"/>
          <p:cNvSpPr txBox="1"/>
          <p:nvPr/>
        </p:nvSpPr>
        <p:spPr>
          <a:xfrm>
            <a:off x="731520" y="1097280"/>
            <a:ext cx="3657600" cy="365760"/>
          </a:xfrm>
          <a:prstGeom prst="rect">
            <a:avLst/>
          </a:prstGeom>
          <a:noFill/>
        </p:spPr>
        <p:txBody>
          <a:bodyPr wrap="square">
            <a:spAutoFit/>
          </a:bodyPr>
          <a:lstStyle/>
          <a:p>
            <a:pPr algn="l">
              <a:defRPr sz="1400" b="1">
                <a:solidFill>
                  <a:srgbClr val="4285F4"/>
                </a:solidFill>
                <a:latin typeface="Arial"/>
              </a:defRPr>
            </a:pPr>
            <a:r>
              <a:t>Technical Requirements</a:t>
            </a:r>
          </a:p>
        </p:txBody>
      </p:sp>
      <p:sp>
        <p:nvSpPr>
          <p:cNvPr id="4" name="TextBox 3"/>
          <p:cNvSpPr txBox="1"/>
          <p:nvPr/>
        </p:nvSpPr>
        <p:spPr>
          <a:xfrm>
            <a:off x="731520" y="1554480"/>
            <a:ext cx="3657600" cy="3017520"/>
          </a:xfrm>
          <a:prstGeom prst="rect">
            <a:avLst/>
          </a:prstGeom>
          <a:noFill/>
        </p:spPr>
        <p:txBody>
          <a:bodyPr wrap="square">
            <a:spAutoFit/>
          </a:bodyPr>
          <a:lstStyle/>
          <a:p>
            <a:pPr algn="l">
              <a:defRPr sz="1300" b="0">
                <a:solidFill>
                  <a:srgbClr val="BBBBBB"/>
                </a:solidFill>
                <a:latin typeface="Arial"/>
              </a:defRPr>
            </a:pPr>
          </a:p>
          <a:p>
            <a:pPr algn="l">
              <a:spcBef>
                <a:spcPts val="600"/>
              </a:spcBef>
              <a:defRPr sz="1300" b="0">
                <a:solidFill>
                  <a:srgbClr val="BBBBBB"/>
                </a:solidFill>
                <a:latin typeface="Arial"/>
              </a:defRPr>
            </a:pPr>
            <a:r>
              <a:t>• High-throughput ingestion (continuous telemetry)</a:t>
            </a:r>
          </a:p>
          <a:p>
            <a:pPr algn="l">
              <a:spcBef>
                <a:spcPts val="600"/>
              </a:spcBef>
              <a:defRPr sz="1300" b="0">
                <a:solidFill>
                  <a:srgbClr val="BBBBBB"/>
                </a:solidFill>
                <a:latin typeface="Arial"/>
              </a:defRPr>
            </a:pPr>
            <a:r>
              <a:t>• Real-time + historical queries together</a:t>
            </a:r>
          </a:p>
          <a:p>
            <a:pPr algn="l">
              <a:spcBef>
                <a:spcPts val="600"/>
              </a:spcBef>
              <a:defRPr sz="1300" b="0">
                <a:solidFill>
                  <a:srgbClr val="BBBBBB"/>
                </a:solidFill>
                <a:latin typeface="Arial"/>
              </a:defRPr>
            </a:pPr>
            <a:r>
              <a:t>• Multi-resolution analytics (seconds → years)</a:t>
            </a:r>
          </a:p>
          <a:p>
            <a:pPr algn="l">
              <a:spcBef>
                <a:spcPts val="600"/>
              </a:spcBef>
              <a:defRPr sz="1300" b="0">
                <a:solidFill>
                  <a:srgbClr val="BBBBBB"/>
                </a:solidFill>
                <a:latin typeface="Arial"/>
              </a:defRPr>
            </a:pPr>
            <a:r>
              <a:t>• Joins across telemetry, prices, assets, events</a:t>
            </a:r>
          </a:p>
          <a:p>
            <a:pPr algn="l">
              <a:spcBef>
                <a:spcPts val="600"/>
              </a:spcBef>
              <a:defRPr sz="1300" b="0">
                <a:solidFill>
                  <a:srgbClr val="BBBBBB"/>
                </a:solidFill>
                <a:latin typeface="Arial"/>
              </a:defRPr>
            </a:pPr>
            <a:r>
              <a:t>• Long-term storage with cost control</a:t>
            </a:r>
          </a:p>
          <a:p>
            <a:pPr algn="l">
              <a:spcBef>
                <a:spcPts val="600"/>
              </a:spcBef>
              <a:defRPr sz="1300" b="0">
                <a:solidFill>
                  <a:srgbClr val="BBBBBB"/>
                </a:solidFill>
                <a:latin typeface="Arial"/>
              </a:defRPr>
            </a:pPr>
            <a:r>
              <a:t>• Operational correctness (dispatch, alarms, ACID)</a:t>
            </a:r>
          </a:p>
        </p:txBody>
      </p:sp>
      <p:sp>
        <p:nvSpPr>
          <p:cNvPr id="5" name="TextBox 4"/>
          <p:cNvSpPr txBox="1"/>
          <p:nvPr/>
        </p:nvSpPr>
        <p:spPr>
          <a:xfrm>
            <a:off x="4846320" y="1097280"/>
            <a:ext cx="3657600" cy="365760"/>
          </a:xfrm>
          <a:prstGeom prst="rect">
            <a:avLst/>
          </a:prstGeom>
          <a:noFill/>
        </p:spPr>
        <p:txBody>
          <a:bodyPr wrap="square">
            <a:spAutoFit/>
          </a:bodyPr>
          <a:lstStyle/>
          <a:p>
            <a:pPr algn="l">
              <a:defRPr sz="1400" b="1">
                <a:solidFill>
                  <a:srgbClr val="FFAB40"/>
                </a:solidFill>
                <a:latin typeface="Arial"/>
              </a:defRPr>
            </a:pPr>
            <a:r>
              <a:t>Challenges with Traditional Approaches</a:t>
            </a:r>
          </a:p>
        </p:txBody>
      </p:sp>
      <p:sp>
        <p:nvSpPr>
          <p:cNvPr id="6" name="TextBox 5"/>
          <p:cNvSpPr txBox="1"/>
          <p:nvPr/>
        </p:nvSpPr>
        <p:spPr>
          <a:xfrm>
            <a:off x="4846320" y="1554480"/>
            <a:ext cx="3657600" cy="3017520"/>
          </a:xfrm>
          <a:prstGeom prst="rect">
            <a:avLst/>
          </a:prstGeom>
          <a:noFill/>
        </p:spPr>
        <p:txBody>
          <a:bodyPr wrap="square">
            <a:spAutoFit/>
          </a:bodyPr>
          <a:lstStyle/>
          <a:p>
            <a:pPr algn="l">
              <a:defRPr sz="1300" b="0">
                <a:solidFill>
                  <a:srgbClr val="BBBBBB"/>
                </a:solidFill>
                <a:latin typeface="Arial"/>
              </a:defRPr>
            </a:pPr>
          </a:p>
          <a:p>
            <a:pPr algn="l">
              <a:spcBef>
                <a:spcPts val="600"/>
              </a:spcBef>
              <a:defRPr sz="1300" b="0">
                <a:solidFill>
                  <a:srgbClr val="BBBBBB"/>
                </a:solidFill>
                <a:latin typeface="Arial"/>
              </a:defRPr>
            </a:pPr>
            <a:r>
              <a:t>• Manual partitioning — ongoing maintenance burden</a:t>
            </a:r>
          </a:p>
          <a:p>
            <a:pPr algn="l">
              <a:spcBef>
                <a:spcPts val="600"/>
              </a:spcBef>
              <a:defRPr sz="1300" b="0">
                <a:solidFill>
                  <a:srgbClr val="BBBBBB"/>
                </a:solidFill>
                <a:latin typeface="Arial"/>
              </a:defRPr>
            </a:pPr>
            <a:r>
              <a:t>• Slow aggregations at scale — full table scans</a:t>
            </a:r>
          </a:p>
          <a:p>
            <a:pPr algn="l">
              <a:spcBef>
                <a:spcPts val="600"/>
              </a:spcBef>
              <a:defRPr sz="1300" b="0">
                <a:solidFill>
                  <a:srgbClr val="BBBBBB"/>
                </a:solidFill>
                <a:latin typeface="Arial"/>
              </a:defRPr>
            </a:pPr>
            <a:r>
              <a:t>• High storage cost — no native compression</a:t>
            </a:r>
          </a:p>
          <a:p>
            <a:pPr algn="l">
              <a:spcBef>
                <a:spcPts val="600"/>
              </a:spcBef>
              <a:defRPr sz="1300" b="0">
                <a:solidFill>
                  <a:srgbClr val="BBBBBB"/>
                </a:solidFill>
                <a:latin typeface="Arial"/>
              </a:defRPr>
            </a:pPr>
            <a:r>
              <a:t>• Fragmented systems — time-series + relational split</a:t>
            </a:r>
          </a:p>
          <a:p>
            <a:pPr algn="l">
              <a:spcBef>
                <a:spcPts val="600"/>
              </a:spcBef>
              <a:defRPr sz="1300" b="0">
                <a:solidFill>
                  <a:srgbClr val="BBBBBB"/>
                </a:solidFill>
                <a:latin typeface="Arial"/>
              </a:defRPr>
            </a:pPr>
            <a:r>
              <a:t>• Custom ETL for materialized views and tiering</a:t>
            </a:r>
          </a:p>
          <a:p>
            <a:pPr algn="l">
              <a:spcBef>
                <a:spcPts val="600"/>
              </a:spcBef>
              <a:defRPr sz="1300" b="0">
                <a:solidFill>
                  <a:srgbClr val="BBBBBB"/>
                </a:solidFill>
                <a:latin typeface="Arial"/>
              </a:defRPr>
            </a:pPr>
            <a:r>
              <a:t>• No built-in data lifecycle management</a:t>
            </a:r>
          </a:p>
        </p:txBody>
      </p:sp>
      <p:sp>
        <p:nvSpPr>
          <p:cNvPr id="7" name="TextBox 6"/>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731520" y="365760"/>
            <a:ext cx="7680960" cy="548640"/>
          </a:xfrm>
          <a:prstGeom prst="rect">
            <a:avLst/>
          </a:prstGeom>
          <a:noFill/>
        </p:spPr>
        <p:txBody>
          <a:bodyPr wrap="square">
            <a:spAutoFit/>
          </a:bodyPr>
          <a:lstStyle/>
          <a:p>
            <a:pPr algn="l">
              <a:defRPr sz="2200" b="1">
                <a:solidFill>
                  <a:srgbClr val="4285F4"/>
                </a:solidFill>
                <a:latin typeface="Arial"/>
              </a:defRPr>
            </a:pPr>
            <a:r>
              <a:t>Tiger Cloud: Built for BESS</a:t>
            </a:r>
          </a:p>
        </p:txBody>
      </p:sp>
      <p:sp>
        <p:nvSpPr>
          <p:cNvPr id="3" name="TextBox 2"/>
          <p:cNvSpPr txBox="1"/>
          <p:nvPr/>
        </p:nvSpPr>
        <p:spPr>
          <a:xfrm>
            <a:off x="731520" y="1097280"/>
            <a:ext cx="7680960" cy="3474720"/>
          </a:xfrm>
          <a:prstGeom prst="rect">
            <a:avLst/>
          </a:prstGeom>
          <a:noFill/>
        </p:spPr>
        <p:txBody>
          <a:bodyPr wrap="square">
            <a:spAutoFit/>
          </a:bodyPr>
          <a:lstStyle/>
          <a:p>
            <a:pPr algn="l">
              <a:defRPr sz="1400" b="0">
                <a:solidFill>
                  <a:srgbClr val="BBBBBB"/>
                </a:solidFill>
                <a:latin typeface="Arial"/>
              </a:defRPr>
            </a:pPr>
          </a:p>
          <a:p>
            <a:pPr algn="l">
              <a:spcBef>
                <a:spcPts val="1200"/>
              </a:spcBef>
              <a:defRPr sz="1400" b="1">
                <a:solidFill>
                  <a:srgbClr val="FFFFFF"/>
                </a:solidFill>
                <a:latin typeface="Arial"/>
              </a:defRPr>
            </a:pPr>
            <a:r>
              <a:t>Hypertables → Scalable Ingest</a:t>
            </a:r>
          </a:p>
          <a:p>
            <a:pPr algn="l">
              <a:spcBef>
                <a:spcPts val="400"/>
              </a:spcBef>
              <a:defRPr sz="1200" b="0">
                <a:solidFill>
                  <a:srgbClr val="888888"/>
                </a:solidFill>
                <a:latin typeface="Arial"/>
              </a:defRPr>
            </a:pPr>
            <a:r>
              <a:t>    Automatic time-based partitioning, no manual management. 2,500+ rows/sec sustained.</a:t>
            </a:r>
          </a:p>
          <a:p>
            <a:pPr algn="l">
              <a:spcBef>
                <a:spcPts val="1200"/>
              </a:spcBef>
              <a:defRPr sz="1400" b="1">
                <a:solidFill>
                  <a:srgbClr val="FFFFFF"/>
                </a:solidFill>
                <a:latin typeface="Arial"/>
              </a:defRPr>
            </a:pPr>
            <a:r>
              <a:t>Continuous Aggregates → Real-Time Dashboards</a:t>
            </a:r>
          </a:p>
          <a:p>
            <a:pPr algn="l">
              <a:spcBef>
                <a:spcPts val="400"/>
              </a:spcBef>
              <a:defRPr sz="1200" b="0">
                <a:solidFill>
                  <a:srgbClr val="888888"/>
                </a:solidFill>
                <a:latin typeface="Arial"/>
              </a:defRPr>
            </a:pPr>
            <a:r>
              <a:t>    Pre-computed rollups (1min, 15min, 1hour) with incremental refresh. Sub-second queries.</a:t>
            </a:r>
          </a:p>
          <a:p>
            <a:pPr algn="l">
              <a:spcBef>
                <a:spcPts val="1200"/>
              </a:spcBef>
              <a:defRPr sz="1400" b="1">
                <a:solidFill>
                  <a:srgbClr val="FFFFFF"/>
                </a:solidFill>
                <a:latin typeface="Arial"/>
              </a:defRPr>
            </a:pPr>
            <a:r>
              <a:t>Columnstore Compression → 3-10x Storage Savings</a:t>
            </a:r>
          </a:p>
          <a:p>
            <a:pPr algn="l">
              <a:spcBef>
                <a:spcPts val="400"/>
              </a:spcBef>
              <a:defRPr sz="1200" b="0">
                <a:solidFill>
                  <a:srgbClr val="888888"/>
                </a:solidFill>
                <a:latin typeface="Arial"/>
              </a:defRPr>
            </a:pPr>
            <a:r>
              <a:t>    Automatic compression on aging chunks. 15 TB → 1 TB demonstrated at Cactos.</a:t>
            </a:r>
          </a:p>
          <a:p>
            <a:pPr algn="l">
              <a:spcBef>
                <a:spcPts val="1200"/>
              </a:spcBef>
              <a:defRPr sz="1400" b="1">
                <a:solidFill>
                  <a:srgbClr val="FFFFFF"/>
                </a:solidFill>
                <a:latin typeface="Arial"/>
              </a:defRPr>
            </a:pPr>
            <a:r>
              <a:t>Retention &amp; Tiering → Lifecycle Management</a:t>
            </a:r>
          </a:p>
          <a:p>
            <a:pPr algn="l">
              <a:spcBef>
                <a:spcPts val="400"/>
              </a:spcBef>
              <a:defRPr sz="1200" b="0">
                <a:solidFill>
                  <a:srgbClr val="888888"/>
                </a:solidFill>
                <a:latin typeface="Arial"/>
              </a:defRPr>
            </a:pPr>
            <a:r>
              <a:t>    Auto-drop old raw data, tier to S3, retain aggregates indefinitely.</a:t>
            </a:r>
          </a:p>
          <a:p>
            <a:pPr algn="l">
              <a:spcBef>
                <a:spcPts val="1200"/>
              </a:spcBef>
              <a:defRPr sz="1400" b="1">
                <a:solidFill>
                  <a:srgbClr val="FFFFFF"/>
                </a:solidFill>
                <a:latin typeface="Arial"/>
              </a:defRPr>
            </a:pPr>
            <a:r>
              <a:t>Postgres → One Database for Everything</a:t>
            </a:r>
          </a:p>
          <a:p>
            <a:pPr algn="l">
              <a:spcBef>
                <a:spcPts val="400"/>
              </a:spcBef>
              <a:defRPr sz="1200" b="0">
                <a:solidFill>
                  <a:srgbClr val="888888"/>
                </a:solidFill>
                <a:latin typeface="Arial"/>
              </a:defRPr>
            </a:pPr>
            <a:r>
              <a:t>    Joins across telemetry + prices + alarms + assets. ACID guarantees. Standard SQL.</a:t>
            </a:r>
          </a:p>
        </p:txBody>
      </p:sp>
      <p:sp>
        <p:nvSpPr>
          <p:cNvPr id="4" name="TextBox 3"/>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371600"/>
            <a:ext cx="7315200" cy="1828800"/>
          </a:xfrm>
          <a:prstGeom prst="rect">
            <a:avLst/>
          </a:prstGeom>
          <a:noFill/>
        </p:spPr>
        <p:txBody>
          <a:bodyPr wrap="square">
            <a:spAutoFit/>
          </a:bodyPr>
          <a:lstStyle/>
          <a:p>
            <a:pPr algn="ctr">
              <a:defRPr sz="2400" b="1">
                <a:solidFill>
                  <a:srgbClr val="FFFFFF"/>
                </a:solidFill>
                <a:latin typeface="Arial"/>
              </a:defRPr>
            </a:pPr>
            <a:r>
              <a:t>TimescaleDB is Postgres Extended —</a:t>
            </a:r>
            <a:br/>
            <a:r>
              <a:t>not a separate database.</a:t>
            </a:r>
          </a:p>
        </p:txBody>
      </p:sp>
      <p:sp>
        <p:nvSpPr>
          <p:cNvPr id="3" name="TextBox 2"/>
          <p:cNvSpPr txBox="1"/>
          <p:nvPr/>
        </p:nvSpPr>
        <p:spPr>
          <a:xfrm>
            <a:off x="914400" y="3474720"/>
            <a:ext cx="7315200" cy="457200"/>
          </a:xfrm>
          <a:prstGeom prst="rect">
            <a:avLst/>
          </a:prstGeom>
          <a:noFill/>
        </p:spPr>
        <p:txBody>
          <a:bodyPr wrap="square">
            <a:spAutoFit/>
          </a:bodyPr>
          <a:lstStyle/>
          <a:p>
            <a:pPr algn="ctr">
              <a:defRPr sz="1200" b="0">
                <a:solidFill>
                  <a:srgbClr val="888888"/>
                </a:solidFill>
                <a:latin typeface="Arial"/>
              </a:defRPr>
            </a:pPr>
            <a:r>
              <a:t>Same query language. Same ORMs. Same admin tools. Same BI integrations.</a:t>
            </a:r>
            <a:br/>
            <a:r>
              <a:t>Works with Postgres = Works with TimescaleDB.</a:t>
            </a:r>
          </a:p>
        </p:txBody>
      </p:sp>
      <p:sp>
        <p:nvSpPr>
          <p:cNvPr id="4" name="TextBox 3"/>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731520" y="365760"/>
            <a:ext cx="7680960" cy="548640"/>
          </a:xfrm>
          <a:prstGeom prst="rect">
            <a:avLst/>
          </a:prstGeom>
          <a:noFill/>
        </p:spPr>
        <p:txBody>
          <a:bodyPr wrap="square">
            <a:spAutoFit/>
          </a:bodyPr>
          <a:lstStyle/>
          <a:p>
            <a:pPr algn="l">
              <a:defRPr sz="2200" b="1">
                <a:solidFill>
                  <a:srgbClr val="FFFFFF"/>
                </a:solidFill>
                <a:latin typeface="Arial"/>
              </a:defRPr>
            </a:pPr>
            <a:r>
              <a:t>Energy Workloads Need Both Operational and Analytical</a:t>
            </a:r>
          </a:p>
        </p:txBody>
      </p:sp>
      <p:sp>
        <p:nvSpPr>
          <p:cNvPr id="3" name="TextBox 2"/>
          <p:cNvSpPr txBox="1"/>
          <p:nvPr/>
        </p:nvSpPr>
        <p:spPr>
          <a:xfrm>
            <a:off x="731520" y="1097280"/>
            <a:ext cx="7680960" cy="3474720"/>
          </a:xfrm>
          <a:prstGeom prst="rect">
            <a:avLst/>
          </a:prstGeom>
          <a:noFill/>
        </p:spPr>
        <p:txBody>
          <a:bodyPr wrap="square">
            <a:spAutoFit/>
          </a:bodyPr>
          <a:lstStyle/>
          <a:p>
            <a:pPr algn="l">
              <a:defRPr sz="1400" b="0">
                <a:solidFill>
                  <a:srgbClr val="BBBBBB"/>
                </a:solidFill>
                <a:latin typeface="Arial"/>
              </a:defRPr>
            </a:pPr>
          </a:p>
          <a:p>
            <a:pPr algn="l">
              <a:spcBef>
                <a:spcPts val="1200"/>
              </a:spcBef>
              <a:defRPr sz="1400" b="1">
                <a:solidFill>
                  <a:srgbClr val="FFFFFF"/>
                </a:solidFill>
                <a:latin typeface="Arial"/>
              </a:defRPr>
            </a:pPr>
            <a:r>
              <a:t>Last-State Queries</a:t>
            </a:r>
          </a:p>
          <a:p>
            <a:pPr algn="l">
              <a:spcBef>
                <a:spcPts val="400"/>
              </a:spcBef>
              <a:defRPr sz="1200" b="0">
                <a:solidFill>
                  <a:srgbClr val="888888"/>
                </a:solidFill>
                <a:latin typeface="Arial"/>
              </a:defRPr>
            </a:pPr>
            <a:r>
              <a:t>    What is the current SoC of every asset? (real-time, &lt;50ms)</a:t>
            </a:r>
          </a:p>
          <a:p>
            <a:pPr algn="l">
              <a:spcBef>
                <a:spcPts val="1200"/>
              </a:spcBef>
              <a:defRPr sz="1400" b="1">
                <a:solidFill>
                  <a:srgbClr val="FFFFFF"/>
                </a:solidFill>
                <a:latin typeface="Arial"/>
              </a:defRPr>
            </a:pPr>
            <a:r>
              <a:t>Historical Analytical Queries</a:t>
            </a:r>
          </a:p>
          <a:p>
            <a:pPr algn="l">
              <a:spcBef>
                <a:spcPts val="400"/>
              </a:spcBef>
              <a:defRPr sz="1200" b="0">
                <a:solidFill>
                  <a:srgbClr val="888888"/>
                </a:solidFill>
                <a:latin typeface="Arial"/>
              </a:defRPr>
            </a:pPr>
            <a:r>
              <a:t>    How has this asset degraded over 6 months? (deep, compressed columnstore)</a:t>
            </a:r>
          </a:p>
          <a:p>
            <a:pPr algn="l">
              <a:spcBef>
                <a:spcPts val="1200"/>
              </a:spcBef>
              <a:defRPr sz="1400" b="1">
                <a:solidFill>
                  <a:srgbClr val="FFFFFF"/>
                </a:solidFill>
                <a:latin typeface="Arial"/>
              </a:defRPr>
            </a:pPr>
            <a:r>
              <a:t>Dashboards &amp; Aggregations</a:t>
            </a:r>
          </a:p>
          <a:p>
            <a:pPr algn="l">
              <a:spcBef>
                <a:spcPts val="400"/>
              </a:spcBef>
              <a:defRPr sz="1200" b="0">
                <a:solidFill>
                  <a:srgbClr val="888888"/>
                </a:solidFill>
                <a:latin typeface="Arial"/>
              </a:defRPr>
            </a:pPr>
            <a:r>
              <a:t>    Fleet-wide power profile for the last 24 hours (CAGG, pre-computed)</a:t>
            </a:r>
          </a:p>
          <a:p>
            <a:pPr algn="l">
              <a:spcBef>
                <a:spcPts val="1200"/>
              </a:spcBef>
              <a:defRPr sz="1400" b="1">
                <a:solidFill>
                  <a:srgbClr val="FFFFFF"/>
                </a:solidFill>
                <a:latin typeface="Arial"/>
              </a:defRPr>
            </a:pPr>
            <a:r>
              <a:t>Decisioning Queries</a:t>
            </a:r>
          </a:p>
          <a:p>
            <a:pPr algn="l">
              <a:spcBef>
                <a:spcPts val="400"/>
              </a:spcBef>
              <a:defRPr sz="1200" b="0">
                <a:solidFill>
                  <a:srgbClr val="888888"/>
                </a:solidFill>
                <a:latin typeface="Arial"/>
              </a:defRPr>
            </a:pPr>
            <a:r>
              <a:t>    Which sites should I dispatch now given current prices? (multi-table JOIN)</a:t>
            </a:r>
          </a:p>
          <a:p>
            <a:pPr algn="l">
              <a:spcBef>
                <a:spcPts val="800"/>
              </a:spcBef>
              <a:defRPr sz="1400" b="0">
                <a:solidFill>
                  <a:srgbClr val="BBBBBB"/>
                </a:solidFill>
                <a:latin typeface="Arial"/>
              </a:defRPr>
            </a:pPr>
          </a:p>
          <a:p>
            <a:pPr algn="l">
              <a:spcBef>
                <a:spcPts val="800"/>
              </a:spcBef>
              <a:defRPr sz="1300" b="1">
                <a:solidFill>
                  <a:srgbClr val="FFAB40"/>
                </a:solidFill>
                <a:latin typeface="Arial"/>
              </a:defRPr>
            </a:pPr>
            <a:r>
              <a:t>Tiger Cloud delivers all four in a single Postgres instance.</a:t>
            </a:r>
          </a:p>
        </p:txBody>
      </p:sp>
      <p:sp>
        <p:nvSpPr>
          <p:cNvPr id="4" name="TextBox 3"/>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731520" y="365760"/>
            <a:ext cx="7680960" cy="548640"/>
          </a:xfrm>
          <a:prstGeom prst="rect">
            <a:avLst/>
          </a:prstGeom>
          <a:noFill/>
        </p:spPr>
        <p:txBody>
          <a:bodyPr wrap="square">
            <a:spAutoFit/>
          </a:bodyPr>
          <a:lstStyle/>
          <a:p>
            <a:pPr algn="l">
              <a:defRPr sz="2200" b="1">
                <a:solidFill>
                  <a:srgbClr val="FFFFFF"/>
                </a:solidFill>
                <a:latin typeface="Arial"/>
              </a:defRPr>
            </a:pPr>
            <a:r>
              <a:t>Tiger Data Expands Postgres</a:t>
            </a:r>
          </a:p>
        </p:txBody>
      </p:sp>
      <p:sp>
        <p:nvSpPr>
          <p:cNvPr id="3" name="TextBox 2"/>
          <p:cNvSpPr txBox="1"/>
          <p:nvPr/>
        </p:nvSpPr>
        <p:spPr>
          <a:xfrm>
            <a:off x="731520" y="1097280"/>
            <a:ext cx="3657600" cy="365760"/>
          </a:xfrm>
          <a:prstGeom prst="rect">
            <a:avLst/>
          </a:prstGeom>
          <a:noFill/>
        </p:spPr>
        <p:txBody>
          <a:bodyPr wrap="square">
            <a:spAutoFit/>
          </a:bodyPr>
          <a:lstStyle/>
          <a:p>
            <a:pPr algn="l">
              <a:defRPr sz="1400" b="1">
                <a:solidFill>
                  <a:srgbClr val="4285F4"/>
                </a:solidFill>
                <a:latin typeface="Arial"/>
              </a:defRPr>
            </a:pPr>
            <a:r>
              <a:t>Vanilla Postgres</a:t>
            </a:r>
          </a:p>
        </p:txBody>
      </p:sp>
      <p:sp>
        <p:nvSpPr>
          <p:cNvPr id="4" name="TextBox 3"/>
          <p:cNvSpPr txBox="1"/>
          <p:nvPr/>
        </p:nvSpPr>
        <p:spPr>
          <a:xfrm>
            <a:off x="731520" y="1554480"/>
            <a:ext cx="3657600" cy="3017520"/>
          </a:xfrm>
          <a:prstGeom prst="rect">
            <a:avLst/>
          </a:prstGeom>
          <a:noFill/>
        </p:spPr>
        <p:txBody>
          <a:bodyPr wrap="square">
            <a:spAutoFit/>
          </a:bodyPr>
          <a:lstStyle/>
          <a:p>
            <a:pPr algn="l">
              <a:defRPr sz="1300" b="0">
                <a:solidFill>
                  <a:srgbClr val="BBBBBB"/>
                </a:solidFill>
                <a:latin typeface="Arial"/>
              </a:defRPr>
            </a:pPr>
          </a:p>
          <a:p>
            <a:pPr algn="l">
              <a:spcBef>
                <a:spcPts val="600"/>
              </a:spcBef>
              <a:defRPr sz="1300" b="0">
                <a:solidFill>
                  <a:srgbClr val="BBBBBB"/>
                </a:solidFill>
                <a:latin typeface="Arial"/>
              </a:defRPr>
            </a:pPr>
            <a:r>
              <a:t>• Fast at small scale</a:t>
            </a:r>
          </a:p>
          <a:p>
            <a:pPr algn="l">
              <a:spcBef>
                <a:spcPts val="600"/>
              </a:spcBef>
              <a:defRPr sz="1300" b="0">
                <a:solidFill>
                  <a:srgbClr val="BBBBBB"/>
                </a:solidFill>
                <a:latin typeface="Arial"/>
              </a:defRPr>
            </a:pPr>
            <a:r>
              <a:t>• In-memory index ceiling</a:t>
            </a:r>
          </a:p>
          <a:p>
            <a:pPr algn="l">
              <a:spcBef>
                <a:spcPts val="600"/>
              </a:spcBef>
              <a:defRPr sz="1300" b="0">
                <a:solidFill>
                  <a:srgbClr val="BBBBBB"/>
                </a:solidFill>
                <a:latin typeface="Arial"/>
              </a:defRPr>
            </a:pPr>
            <a:r>
              <a:t>• Manual partitioning needed</a:t>
            </a:r>
          </a:p>
          <a:p>
            <a:pPr algn="l">
              <a:spcBef>
                <a:spcPts val="600"/>
              </a:spcBef>
              <a:defRPr sz="1300" b="0">
                <a:solidFill>
                  <a:srgbClr val="BBBBBB"/>
                </a:solidFill>
                <a:latin typeface="Arial"/>
              </a:defRPr>
            </a:pPr>
            <a:r>
              <a:t>• No compression</a:t>
            </a:r>
          </a:p>
          <a:p>
            <a:pPr algn="l">
              <a:spcBef>
                <a:spcPts val="600"/>
              </a:spcBef>
              <a:defRPr sz="1300" b="0">
                <a:solidFill>
                  <a:srgbClr val="BBBBBB"/>
                </a:solidFill>
                <a:latin typeface="Arial"/>
              </a:defRPr>
            </a:pPr>
            <a:r>
              <a:t>• Aggregations slow at TB scale</a:t>
            </a:r>
          </a:p>
          <a:p>
            <a:pPr algn="l">
              <a:spcBef>
                <a:spcPts val="600"/>
              </a:spcBef>
              <a:defRPr sz="1300" b="0">
                <a:solidFill>
                  <a:srgbClr val="BBBBBB"/>
                </a:solidFill>
                <a:latin typeface="Arial"/>
              </a:defRPr>
            </a:pPr>
            <a:r>
              <a:t>• Requires split architecture for analytics</a:t>
            </a:r>
          </a:p>
        </p:txBody>
      </p:sp>
      <p:sp>
        <p:nvSpPr>
          <p:cNvPr id="5" name="TextBox 4"/>
          <p:cNvSpPr txBox="1"/>
          <p:nvPr/>
        </p:nvSpPr>
        <p:spPr>
          <a:xfrm>
            <a:off x="4846320" y="1097280"/>
            <a:ext cx="3657600" cy="365760"/>
          </a:xfrm>
          <a:prstGeom prst="rect">
            <a:avLst/>
          </a:prstGeom>
          <a:noFill/>
        </p:spPr>
        <p:txBody>
          <a:bodyPr wrap="square">
            <a:spAutoFit/>
          </a:bodyPr>
          <a:lstStyle/>
          <a:p>
            <a:pPr algn="l">
              <a:defRPr sz="1400" b="1">
                <a:solidFill>
                  <a:srgbClr val="FFAB40"/>
                </a:solidFill>
                <a:latin typeface="Arial"/>
              </a:defRPr>
            </a:pPr>
            <a:r>
              <a:t>Tiger Data (Postgres Extension)</a:t>
            </a:r>
          </a:p>
        </p:txBody>
      </p:sp>
      <p:sp>
        <p:nvSpPr>
          <p:cNvPr id="6" name="TextBox 5"/>
          <p:cNvSpPr txBox="1"/>
          <p:nvPr/>
        </p:nvSpPr>
        <p:spPr>
          <a:xfrm>
            <a:off x="4846320" y="1554480"/>
            <a:ext cx="3657600" cy="3017520"/>
          </a:xfrm>
          <a:prstGeom prst="rect">
            <a:avLst/>
          </a:prstGeom>
          <a:noFill/>
        </p:spPr>
        <p:txBody>
          <a:bodyPr wrap="square">
            <a:spAutoFit/>
          </a:bodyPr>
          <a:lstStyle/>
          <a:p>
            <a:pPr algn="l">
              <a:defRPr sz="1300" b="0">
                <a:solidFill>
                  <a:srgbClr val="BBBBBB"/>
                </a:solidFill>
                <a:latin typeface="Arial"/>
              </a:defRPr>
            </a:pPr>
          </a:p>
          <a:p>
            <a:pPr algn="l">
              <a:spcBef>
                <a:spcPts val="600"/>
              </a:spcBef>
              <a:defRPr sz="1300" b="0">
                <a:solidFill>
                  <a:srgbClr val="BBBBBB"/>
                </a:solidFill>
                <a:latin typeface="Arial"/>
              </a:defRPr>
            </a:pPr>
            <a:r>
              <a:t>• Automatic partitioning + chunk management</a:t>
            </a:r>
          </a:p>
          <a:p>
            <a:pPr algn="l">
              <a:spcBef>
                <a:spcPts val="600"/>
              </a:spcBef>
              <a:defRPr sz="1300" b="0">
                <a:solidFill>
                  <a:srgbClr val="BBBBBB"/>
                </a:solidFill>
                <a:latin typeface="Arial"/>
              </a:defRPr>
            </a:pPr>
            <a:r>
              <a:t>• Columnstore compression (90%+ reduction)</a:t>
            </a:r>
          </a:p>
          <a:p>
            <a:pPr algn="l">
              <a:spcBef>
                <a:spcPts val="600"/>
              </a:spcBef>
              <a:defRPr sz="1300" b="0">
                <a:solidFill>
                  <a:srgbClr val="BBBBBB"/>
                </a:solidFill>
                <a:latin typeface="Arial"/>
              </a:defRPr>
            </a:pPr>
            <a:r>
              <a:t>• Continuous aggregates (no ETL pipeline)</a:t>
            </a:r>
          </a:p>
          <a:p>
            <a:pPr algn="l">
              <a:spcBef>
                <a:spcPts val="600"/>
              </a:spcBef>
              <a:defRPr sz="1300" b="0">
                <a:solidFill>
                  <a:srgbClr val="BBBBBB"/>
                </a:solidFill>
                <a:latin typeface="Arial"/>
              </a:defRPr>
            </a:pPr>
            <a:r>
              <a:t>• S3 tiering (cold data, fully queryable)</a:t>
            </a:r>
          </a:p>
          <a:p>
            <a:pPr algn="l">
              <a:spcBef>
                <a:spcPts val="600"/>
              </a:spcBef>
              <a:defRPr sz="1300" b="0">
                <a:solidFill>
                  <a:srgbClr val="BBBBBB"/>
                </a:solidFill>
                <a:latin typeface="Arial"/>
              </a:defRPr>
            </a:pPr>
            <a:r>
              <a:t>• Sub-second dashboards at TB scale</a:t>
            </a:r>
          </a:p>
          <a:p>
            <a:pPr algn="l">
              <a:spcBef>
                <a:spcPts val="600"/>
              </a:spcBef>
              <a:defRPr sz="1300" b="0">
                <a:solidFill>
                  <a:srgbClr val="BBBBBB"/>
                </a:solidFill>
                <a:latin typeface="Arial"/>
              </a:defRPr>
            </a:pPr>
            <a:r>
              <a:t>• One database: operational + analytical</a:t>
            </a:r>
          </a:p>
        </p:txBody>
      </p:sp>
      <p:sp>
        <p:nvSpPr>
          <p:cNvPr id="7" name="TextBox 6"/>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1645920"/>
            <a:ext cx="7680960" cy="548640"/>
          </a:xfrm>
          <a:prstGeom prst="rect">
            <a:avLst/>
          </a:prstGeom>
          <a:noFill/>
        </p:spPr>
        <p:txBody>
          <a:bodyPr wrap="square">
            <a:spAutoFit/>
          </a:bodyPr>
          <a:lstStyle/>
          <a:p>
            <a:pPr algn="l">
              <a:defRPr sz="4000" b="1">
                <a:solidFill>
                  <a:srgbClr val="4285F4"/>
                </a:solidFill>
                <a:latin typeface="Arial"/>
              </a:defRPr>
            </a:pPr>
            <a:r>
              <a:t>4.</a:t>
            </a:r>
          </a:p>
        </p:txBody>
      </p:sp>
      <p:sp>
        <p:nvSpPr>
          <p:cNvPr id="3" name="TextBox 2"/>
          <p:cNvSpPr txBox="1"/>
          <p:nvPr/>
        </p:nvSpPr>
        <p:spPr>
          <a:xfrm>
            <a:off x="731520" y="2286000"/>
            <a:ext cx="7680960" cy="914400"/>
          </a:xfrm>
          <a:prstGeom prst="rect">
            <a:avLst/>
          </a:prstGeom>
          <a:noFill/>
        </p:spPr>
        <p:txBody>
          <a:bodyPr wrap="square">
            <a:spAutoFit/>
          </a:bodyPr>
          <a:lstStyle/>
          <a:p>
            <a:pPr algn="l">
              <a:defRPr sz="2800" b="1">
                <a:solidFill>
                  <a:srgbClr val="FFFFFF"/>
                </a:solidFill>
                <a:latin typeface="Arial"/>
              </a:defRPr>
            </a:pPr>
            <a:r>
              <a:t>Architecture &amp; Demo</a:t>
            </a:r>
          </a:p>
        </p:txBody>
      </p:sp>
      <p:sp>
        <p:nvSpPr>
          <p:cNvPr id="4" name="TextBox 3"/>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731520" y="365760"/>
            <a:ext cx="7680960" cy="548640"/>
          </a:xfrm>
          <a:prstGeom prst="rect">
            <a:avLst/>
          </a:prstGeom>
          <a:noFill/>
        </p:spPr>
        <p:txBody>
          <a:bodyPr wrap="square">
            <a:spAutoFit/>
          </a:bodyPr>
          <a:lstStyle/>
          <a:p>
            <a:pPr algn="l">
              <a:defRPr sz="2200" b="1">
                <a:solidFill>
                  <a:srgbClr val="FFFFFF"/>
                </a:solidFill>
                <a:latin typeface="Arial"/>
              </a:defRPr>
            </a:pPr>
            <a:r>
              <a:t>BESS Reference Architecture</a:t>
            </a:r>
          </a:p>
        </p:txBody>
      </p:sp>
      <p:sp>
        <p:nvSpPr>
          <p:cNvPr id="3" name="TextBox 2"/>
          <p:cNvSpPr txBox="1"/>
          <p:nvPr/>
        </p:nvSpPr>
        <p:spPr>
          <a:xfrm>
            <a:off x="731520" y="1097280"/>
            <a:ext cx="7680960" cy="3474720"/>
          </a:xfrm>
          <a:prstGeom prst="rect">
            <a:avLst/>
          </a:prstGeom>
          <a:noFill/>
        </p:spPr>
        <p:txBody>
          <a:bodyPr wrap="square">
            <a:spAutoFit/>
          </a:bodyPr>
          <a:lstStyle/>
          <a:p>
            <a:pPr algn="l">
              <a:defRPr sz="1400" b="0">
                <a:solidFill>
                  <a:srgbClr val="BBBBBB"/>
                </a:solidFill>
                <a:latin typeface="Arial"/>
              </a:defRPr>
            </a:pPr>
          </a:p>
          <a:p>
            <a:pPr algn="l">
              <a:spcBef>
                <a:spcPts val="1200"/>
              </a:spcBef>
              <a:defRPr sz="1400" b="1">
                <a:solidFill>
                  <a:srgbClr val="FFFFFF"/>
                </a:solidFill>
                <a:latin typeface="Arial"/>
              </a:defRPr>
            </a:pPr>
            <a:r>
              <a:t>Data Sources</a:t>
            </a:r>
          </a:p>
          <a:p>
            <a:pPr algn="l">
              <a:spcBef>
                <a:spcPts val="400"/>
              </a:spcBef>
              <a:defRPr sz="1200" b="0">
                <a:solidFill>
                  <a:srgbClr val="888888"/>
                </a:solidFill>
                <a:latin typeface="Arial"/>
              </a:defRPr>
            </a:pPr>
            <a:r>
              <a:t>    Battery BMS (SoC, voltages, temp) • PCS/Inverter (power, frequency) • Grid Meter • Market Prices • SCADA/EMS • Maintenance</a:t>
            </a:r>
          </a:p>
          <a:p>
            <a:pPr algn="l">
              <a:spcBef>
                <a:spcPts val="1200"/>
              </a:spcBef>
              <a:defRPr sz="1400" b="1">
                <a:solidFill>
                  <a:srgbClr val="FFFFFF"/>
                </a:solidFill>
                <a:latin typeface="Arial"/>
              </a:defRPr>
            </a:pPr>
            <a:r>
              <a:t>Edge / Broker</a:t>
            </a:r>
          </a:p>
          <a:p>
            <a:pPr algn="l">
              <a:spcBef>
                <a:spcPts val="400"/>
              </a:spcBef>
              <a:defRPr sz="1200" b="0">
                <a:solidFill>
                  <a:srgbClr val="888888"/>
                </a:solidFill>
                <a:latin typeface="Arial"/>
              </a:defRPr>
            </a:pPr>
            <a:r>
              <a:t>    Edge Gateway (Modbus → MQTT) → MQTT/Kafka broker → Ingest Worker (batch INSERT, 2-8K rows/sec)</a:t>
            </a:r>
          </a:p>
          <a:p>
            <a:pPr algn="l">
              <a:spcBef>
                <a:spcPts val="1200"/>
              </a:spcBef>
              <a:defRPr sz="1400" b="1">
                <a:solidFill>
                  <a:srgbClr val="FFFFFF"/>
                </a:solidFill>
                <a:latin typeface="Arial"/>
              </a:defRPr>
            </a:pPr>
            <a:r>
              <a:t>Tiger Cloud (TimescaleDB)</a:t>
            </a:r>
          </a:p>
          <a:p>
            <a:pPr algn="l">
              <a:spcBef>
                <a:spcPts val="400"/>
              </a:spcBef>
              <a:defRPr sz="1200" b="0">
                <a:solidFill>
                  <a:srgbClr val="888888"/>
                </a:solidFill>
                <a:latin typeface="Arial"/>
              </a:defRPr>
            </a:pPr>
            <a:r>
              <a:t>    5 hypertables: telemetry_raw, alarms_events, dispatch_commands, market_price_signals, maintenance_logs</a:t>
            </a:r>
          </a:p>
          <a:p>
            <a:pPr algn="l">
              <a:spcBef>
                <a:spcPts val="400"/>
              </a:spcBef>
              <a:defRPr sz="1200" b="0">
                <a:solidFill>
                  <a:srgbClr val="888888"/>
                </a:solidFill>
                <a:latin typeface="Arial"/>
              </a:defRPr>
            </a:pPr>
            <a:r>
              <a:t>    3-tier continuous aggregates: 1min → 15min → 1hour (hierarchical)</a:t>
            </a:r>
          </a:p>
          <a:p>
            <a:pPr algn="l">
              <a:spcBef>
                <a:spcPts val="400"/>
              </a:spcBef>
              <a:defRPr sz="1200" b="0">
                <a:solidFill>
                  <a:srgbClr val="888888"/>
                </a:solidFill>
                <a:latin typeface="Arial"/>
              </a:defRPr>
            </a:pPr>
            <a:r>
              <a:t>    Columnstore compression after 1 day, S3 tiering after 3 months, retention at 6 months</a:t>
            </a:r>
          </a:p>
          <a:p>
            <a:pPr algn="l">
              <a:spcBef>
                <a:spcPts val="1200"/>
              </a:spcBef>
              <a:defRPr sz="1400" b="1">
                <a:solidFill>
                  <a:srgbClr val="FFFFFF"/>
                </a:solidFill>
                <a:latin typeface="Arial"/>
              </a:defRPr>
            </a:pPr>
            <a:r>
              <a:t>Applications → Analytics/ML</a:t>
            </a:r>
          </a:p>
          <a:p>
            <a:pPr algn="l">
              <a:spcBef>
                <a:spcPts val="400"/>
              </a:spcBef>
              <a:defRPr sz="1200" b="0">
                <a:solidFill>
                  <a:srgbClr val="888888"/>
                </a:solidFill>
                <a:latin typeface="Arial"/>
              </a:defRPr>
            </a:pPr>
            <a:r>
              <a:t>    Ops Dashboard, Grafana, REST API → Databricks/Spark, Data Lake/S3, BI/Reporting</a:t>
            </a:r>
          </a:p>
        </p:txBody>
      </p:sp>
      <p:sp>
        <p:nvSpPr>
          <p:cNvPr id="4" name="TextBox 3"/>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731520" y="365760"/>
            <a:ext cx="7680960" cy="548640"/>
          </a:xfrm>
          <a:prstGeom prst="rect">
            <a:avLst/>
          </a:prstGeom>
          <a:noFill/>
        </p:spPr>
        <p:txBody>
          <a:bodyPr wrap="square">
            <a:spAutoFit/>
          </a:bodyPr>
          <a:lstStyle/>
          <a:p>
            <a:pPr algn="l">
              <a:defRPr sz="2200" b="1">
                <a:solidFill>
                  <a:srgbClr val="FFFFFF"/>
                </a:solidFill>
                <a:latin typeface="Arial"/>
              </a:defRPr>
            </a:pPr>
            <a:r>
              <a:t>Data Lifecycle &amp; Temperature</a:t>
            </a:r>
          </a:p>
        </p:txBody>
      </p:sp>
      <p:sp>
        <p:nvSpPr>
          <p:cNvPr id="3" name="TextBox 2"/>
          <p:cNvSpPr txBox="1"/>
          <p:nvPr/>
        </p:nvSpPr>
        <p:spPr>
          <a:xfrm>
            <a:off x="731520" y="1097280"/>
            <a:ext cx="7680960" cy="3474720"/>
          </a:xfrm>
          <a:prstGeom prst="rect">
            <a:avLst/>
          </a:prstGeom>
          <a:noFill/>
        </p:spPr>
        <p:txBody>
          <a:bodyPr wrap="square">
            <a:spAutoFit/>
          </a:bodyPr>
          <a:lstStyle/>
          <a:p>
            <a:pPr algn="l">
              <a:defRPr sz="1400" b="0">
                <a:solidFill>
                  <a:srgbClr val="BBBBBB"/>
                </a:solidFill>
                <a:latin typeface="Arial"/>
              </a:defRPr>
            </a:pPr>
          </a:p>
          <a:p>
            <a:pPr algn="l">
              <a:spcBef>
                <a:spcPts val="1200"/>
              </a:spcBef>
              <a:defRPr sz="1400" b="1">
                <a:solidFill>
                  <a:srgbClr val="FFFFFF"/>
                </a:solidFill>
                <a:latin typeface="Arial"/>
              </a:defRPr>
            </a:pPr>
            <a:r>
              <a:t>🔥 Hot (0-1 day) — Raw, uncompressed, full resolution</a:t>
            </a:r>
          </a:p>
          <a:p>
            <a:pPr algn="l">
              <a:spcBef>
                <a:spcPts val="400"/>
              </a:spcBef>
              <a:defRPr sz="1200" b="0">
                <a:solidFill>
                  <a:srgbClr val="888888"/>
                </a:solidFill>
                <a:latin typeface="Arial"/>
              </a:defRPr>
            </a:pPr>
            <a:r>
              <a:t>    10-second telemetry, per-asset granularity. Real-time queries, dispatch decisions.</a:t>
            </a:r>
          </a:p>
          <a:p>
            <a:pPr algn="l">
              <a:spcBef>
                <a:spcPts val="1200"/>
              </a:spcBef>
              <a:defRPr sz="1400" b="1">
                <a:solidFill>
                  <a:srgbClr val="FFFFFF"/>
                </a:solidFill>
                <a:latin typeface="Arial"/>
              </a:defRPr>
            </a:pPr>
            <a:r>
              <a:t>🌡️ Warm (1-7 days) — Compressed columnstore</a:t>
            </a:r>
          </a:p>
          <a:p>
            <a:pPr algn="l">
              <a:spcBef>
                <a:spcPts val="400"/>
              </a:spcBef>
              <a:defRPr sz="1200" b="0">
                <a:solidFill>
                  <a:srgbClr val="888888"/>
                </a:solidFill>
                <a:latin typeface="Arial"/>
              </a:defRPr>
            </a:pPr>
            <a:r>
              <a:t>    3-10x compression on disk. Still fast for operational queries via CAGGs.</a:t>
            </a:r>
          </a:p>
          <a:p>
            <a:pPr algn="l">
              <a:spcBef>
                <a:spcPts val="1200"/>
              </a:spcBef>
              <a:defRPr sz="1400" b="1">
                <a:solidFill>
                  <a:srgbClr val="FFFFFF"/>
                </a:solidFill>
                <a:latin typeface="Arial"/>
              </a:defRPr>
            </a:pPr>
            <a:r>
              <a:t>❄️ Cool (7 days - 3 months) — Compressed + CAGG</a:t>
            </a:r>
          </a:p>
          <a:p>
            <a:pPr algn="l">
              <a:spcBef>
                <a:spcPts val="400"/>
              </a:spcBef>
              <a:defRPr sz="1200" b="0">
                <a:solidFill>
                  <a:srgbClr val="888888"/>
                </a:solidFill>
                <a:latin typeface="Arial"/>
              </a:defRPr>
            </a:pPr>
            <a:r>
              <a:t>    Raw data compressed, 15min/1hour CAGGs serve dashboards and historical views.</a:t>
            </a:r>
          </a:p>
          <a:p>
            <a:pPr algn="l">
              <a:spcBef>
                <a:spcPts val="1200"/>
              </a:spcBef>
              <a:defRPr sz="1400" b="1">
                <a:solidFill>
                  <a:srgbClr val="FFFFFF"/>
                </a:solidFill>
                <a:latin typeface="Arial"/>
              </a:defRPr>
            </a:pPr>
            <a:r>
              <a:t>📦 Cold (3+ months) — S3 tiered, fully queryable</a:t>
            </a:r>
          </a:p>
          <a:p>
            <a:pPr algn="l">
              <a:spcBef>
                <a:spcPts val="400"/>
              </a:spcBef>
              <a:defRPr sz="1200" b="0">
                <a:solidFill>
                  <a:srgbClr val="888888"/>
                </a:solidFill>
                <a:latin typeface="Arial"/>
              </a:defRPr>
            </a:pPr>
            <a:r>
              <a:t>    Data on object storage at fraction of cost. Transparent SQL access when needed.</a:t>
            </a:r>
          </a:p>
          <a:p>
            <a:pPr algn="l">
              <a:spcBef>
                <a:spcPts val="1200"/>
              </a:spcBef>
              <a:defRPr sz="1400" b="1">
                <a:solidFill>
                  <a:srgbClr val="FFFFFF"/>
                </a:solidFill>
                <a:latin typeface="Arial"/>
              </a:defRPr>
            </a:pPr>
            <a:r>
              <a:t>♻️ Retention — Raw drops at 6 months, CAGGs retained indefinitely</a:t>
            </a:r>
          </a:p>
          <a:p>
            <a:pPr algn="l">
              <a:spcBef>
                <a:spcPts val="400"/>
              </a:spcBef>
              <a:defRPr sz="1200" b="0">
                <a:solidFill>
                  <a:srgbClr val="888888"/>
                </a:solidFill>
                <a:latin typeface="Arial"/>
              </a:defRPr>
            </a:pPr>
            <a:r>
              <a:t>    Historical trends always available through pre-computed aggregates.</a:t>
            </a:r>
          </a:p>
        </p:txBody>
      </p:sp>
      <p:sp>
        <p:nvSpPr>
          <p:cNvPr id="4" name="TextBox 3"/>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731520" y="365760"/>
            <a:ext cx="7680960" cy="548640"/>
          </a:xfrm>
          <a:prstGeom prst="rect">
            <a:avLst/>
          </a:prstGeom>
          <a:noFill/>
        </p:spPr>
        <p:txBody>
          <a:bodyPr wrap="square">
            <a:spAutoFit/>
          </a:bodyPr>
          <a:lstStyle/>
          <a:p>
            <a:pPr algn="l">
              <a:defRPr sz="2200" b="1">
                <a:solidFill>
                  <a:srgbClr val="FFFFFF"/>
                </a:solidFill>
                <a:latin typeface="Arial"/>
              </a:defRPr>
            </a:pPr>
            <a:r>
              <a:t>Live Demo: Dario's Battery Farm</a:t>
            </a:r>
          </a:p>
        </p:txBody>
      </p:sp>
      <p:sp>
        <p:nvSpPr>
          <p:cNvPr id="3" name="TextBox 2"/>
          <p:cNvSpPr txBox="1"/>
          <p:nvPr/>
        </p:nvSpPr>
        <p:spPr>
          <a:xfrm>
            <a:off x="731520" y="1097280"/>
            <a:ext cx="7680960" cy="3474720"/>
          </a:xfrm>
          <a:prstGeom prst="rect">
            <a:avLst/>
          </a:prstGeom>
          <a:noFill/>
        </p:spPr>
        <p:txBody>
          <a:bodyPr wrap="square">
            <a:spAutoFit/>
          </a:bodyPr>
          <a:lstStyle/>
          <a:p>
            <a:pPr algn="l">
              <a:defRPr sz="1400" b="0">
                <a:solidFill>
                  <a:srgbClr val="BBBBBB"/>
                </a:solidFill>
                <a:latin typeface="Arial"/>
              </a:defRPr>
            </a:pPr>
          </a:p>
          <a:p>
            <a:pPr algn="l">
              <a:spcBef>
                <a:spcPts val="800"/>
              </a:spcBef>
              <a:defRPr sz="1300" b="1">
                <a:solidFill>
                  <a:srgbClr val="FFAB40"/>
                </a:solidFill>
                <a:latin typeface="Arial"/>
              </a:defRPr>
            </a:pPr>
            <a:r>
              <a:t>bess-demo.vercel.app</a:t>
            </a:r>
          </a:p>
          <a:p>
            <a:pPr algn="l">
              <a:spcBef>
                <a:spcPts val="800"/>
              </a:spcBef>
              <a:defRPr sz="1400" b="0">
                <a:solidFill>
                  <a:srgbClr val="BBBBBB"/>
                </a:solidFill>
                <a:latin typeface="Arial"/>
              </a:defRPr>
            </a:pPr>
          </a:p>
          <a:p>
            <a:pPr algn="l">
              <a:spcBef>
                <a:spcPts val="1200"/>
              </a:spcBef>
              <a:defRPr sz="1400" b="1">
                <a:solidFill>
                  <a:srgbClr val="FFFFFF"/>
                </a:solidFill>
                <a:latin typeface="Arial"/>
              </a:defRPr>
            </a:pPr>
            <a:r>
              <a:t>Fleet: 10 sites • 200 battery containers • 2,080 MW / 8,320 MWh</a:t>
            </a:r>
          </a:p>
          <a:p>
            <a:pPr algn="l">
              <a:spcBef>
                <a:spcPts val="800"/>
              </a:spcBef>
              <a:defRPr sz="1400" b="0">
                <a:solidFill>
                  <a:srgbClr val="BBBBBB"/>
                </a:solidFill>
                <a:latin typeface="Arial"/>
              </a:defRPr>
            </a:pPr>
          </a:p>
          <a:p>
            <a:pPr algn="l">
              <a:spcBef>
                <a:spcPts val="1200"/>
              </a:spcBef>
              <a:defRPr sz="1400" b="1">
                <a:solidFill>
                  <a:srgbClr val="FFFFFF"/>
                </a:solidFill>
                <a:latin typeface="Arial"/>
              </a:defRPr>
            </a:pPr>
            <a:r>
              <a:t>Sustained ingest: 2,500 rows/sec (∼1 TB/month)</a:t>
            </a:r>
          </a:p>
          <a:p>
            <a:pPr algn="l">
              <a:spcBef>
                <a:spcPts val="400"/>
              </a:spcBef>
              <a:defRPr sz="1200" b="0">
                <a:solidFill>
                  <a:srgbClr val="888888"/>
                </a:solidFill>
                <a:latin typeface="Arial"/>
              </a:defRPr>
            </a:pPr>
            <a:r>
              <a:t>    Per-asset telemetry: SoC, SoH, power, temperature, cell voltage, grid metrics</a:t>
            </a:r>
          </a:p>
          <a:p>
            <a:pPr algn="l">
              <a:spcBef>
                <a:spcPts val="1200"/>
              </a:spcBef>
              <a:defRPr sz="1400" b="1">
                <a:solidFill>
                  <a:srgbClr val="FFFFFF"/>
                </a:solidFill>
                <a:latin typeface="Arial"/>
              </a:defRPr>
            </a:pPr>
            <a:r>
              <a:t>5 years of historical data with tiered resolution</a:t>
            </a:r>
          </a:p>
          <a:p>
            <a:pPr algn="l">
              <a:spcBef>
                <a:spcPts val="400"/>
              </a:spcBef>
              <a:defRPr sz="1200" b="0">
                <a:solidFill>
                  <a:srgbClr val="888888"/>
                </a:solidFill>
                <a:latin typeface="Arial"/>
              </a:defRPr>
            </a:pPr>
            <a:r>
              <a:t>    Recent: 10s intervals • 30 days: 30s • 90 days: 1min • 1yr+: 5min</a:t>
            </a:r>
          </a:p>
          <a:p>
            <a:pPr algn="l">
              <a:spcBef>
                <a:spcPts val="1200"/>
              </a:spcBef>
              <a:defRPr sz="1400" b="1">
                <a:solidFill>
                  <a:srgbClr val="FFFFFF"/>
                </a:solidFill>
                <a:latin typeface="Arial"/>
              </a:defRPr>
            </a:pPr>
            <a:r>
              <a:t>Concurrent read + write load</a:t>
            </a:r>
          </a:p>
          <a:p>
            <a:pPr algn="l">
              <a:spcBef>
                <a:spcPts val="400"/>
              </a:spcBef>
              <a:defRPr sz="1200" b="0">
                <a:solidFill>
                  <a:srgbClr val="888888"/>
                </a:solidFill>
                <a:latin typeface="Arial"/>
              </a:defRPr>
            </a:pPr>
            <a:r>
              <a:t>    12 simulated dashboard users alongside continuous ingest, zero errors</a:t>
            </a:r>
          </a:p>
          <a:p>
            <a:pPr algn="l">
              <a:spcBef>
                <a:spcPts val="1200"/>
              </a:spcBef>
              <a:defRPr sz="1400" b="1">
                <a:solidFill>
                  <a:srgbClr val="FFFFFF"/>
                </a:solidFill>
                <a:latin typeface="Arial"/>
              </a:defRPr>
            </a:pPr>
            <a:r>
              <a:t>All queries via standard SQL against one Postgres database</a:t>
            </a:r>
          </a:p>
          <a:p>
            <a:pPr algn="l">
              <a:spcBef>
                <a:spcPts val="400"/>
              </a:spcBef>
              <a:defRPr sz="1200" b="0">
                <a:solidFill>
                  <a:srgbClr val="888888"/>
                </a:solidFill>
                <a:latin typeface="Arial"/>
              </a:defRPr>
            </a:pPr>
            <a:r>
              <a:t>    Dashboards, dispatch readiness, revenue analysis, alarm correlation</a:t>
            </a:r>
          </a:p>
        </p:txBody>
      </p:sp>
      <p:sp>
        <p:nvSpPr>
          <p:cNvPr id="4" name="TextBox 3"/>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731520" y="365760"/>
            <a:ext cx="7680960" cy="548640"/>
          </a:xfrm>
          <a:prstGeom prst="rect">
            <a:avLst/>
          </a:prstGeom>
          <a:noFill/>
        </p:spPr>
        <p:txBody>
          <a:bodyPr wrap="square">
            <a:spAutoFit/>
          </a:bodyPr>
          <a:lstStyle/>
          <a:p>
            <a:pPr algn="l">
              <a:defRPr sz="2200" b="1">
                <a:solidFill>
                  <a:srgbClr val="FFFFFF"/>
                </a:solidFill>
                <a:latin typeface="Arial"/>
              </a:defRPr>
            </a:pPr>
            <a:r>
              <a:t>What the Demo Proves</a:t>
            </a:r>
          </a:p>
        </p:txBody>
      </p:sp>
      <p:sp>
        <p:nvSpPr>
          <p:cNvPr id="3" name="TextBox 2"/>
          <p:cNvSpPr txBox="1"/>
          <p:nvPr/>
        </p:nvSpPr>
        <p:spPr>
          <a:xfrm>
            <a:off x="731520" y="1097280"/>
            <a:ext cx="3657600" cy="365760"/>
          </a:xfrm>
          <a:prstGeom prst="rect">
            <a:avLst/>
          </a:prstGeom>
          <a:noFill/>
        </p:spPr>
        <p:txBody>
          <a:bodyPr wrap="square">
            <a:spAutoFit/>
          </a:bodyPr>
          <a:lstStyle/>
          <a:p>
            <a:pPr algn="l">
              <a:defRPr sz="1400" b="1">
                <a:solidFill>
                  <a:srgbClr val="4285F4"/>
                </a:solidFill>
                <a:latin typeface="Arial"/>
              </a:defRPr>
            </a:pPr>
            <a:r>
              <a:t>Capability</a:t>
            </a:r>
          </a:p>
        </p:txBody>
      </p:sp>
      <p:sp>
        <p:nvSpPr>
          <p:cNvPr id="4" name="TextBox 3"/>
          <p:cNvSpPr txBox="1"/>
          <p:nvPr/>
        </p:nvSpPr>
        <p:spPr>
          <a:xfrm>
            <a:off x="731520" y="1554480"/>
            <a:ext cx="3657600" cy="3017520"/>
          </a:xfrm>
          <a:prstGeom prst="rect">
            <a:avLst/>
          </a:prstGeom>
          <a:noFill/>
        </p:spPr>
        <p:txBody>
          <a:bodyPr wrap="square">
            <a:spAutoFit/>
          </a:bodyPr>
          <a:lstStyle/>
          <a:p>
            <a:pPr algn="l">
              <a:defRPr sz="1300" b="0">
                <a:solidFill>
                  <a:srgbClr val="BBBBBB"/>
                </a:solidFill>
                <a:latin typeface="Arial"/>
              </a:defRPr>
            </a:pPr>
          </a:p>
          <a:p>
            <a:pPr algn="l">
              <a:spcBef>
                <a:spcPts val="600"/>
              </a:spcBef>
              <a:defRPr sz="1300" b="0">
                <a:solidFill>
                  <a:srgbClr val="BBBBBB"/>
                </a:solidFill>
                <a:latin typeface="Arial"/>
              </a:defRPr>
            </a:pPr>
            <a:r>
              <a:t>• Sustained 2,500 rows/sec ingest</a:t>
            </a:r>
          </a:p>
          <a:p>
            <a:pPr algn="l">
              <a:spcBef>
                <a:spcPts val="600"/>
              </a:spcBef>
              <a:defRPr sz="1300" b="0">
                <a:solidFill>
                  <a:srgbClr val="BBBBBB"/>
                </a:solidFill>
                <a:latin typeface="Arial"/>
              </a:defRPr>
            </a:pPr>
            <a:r>
              <a:t>• Sub-second dashboard queries</a:t>
            </a:r>
          </a:p>
          <a:p>
            <a:pPr algn="l">
              <a:spcBef>
                <a:spcPts val="600"/>
              </a:spcBef>
              <a:defRPr sz="1300" b="0">
                <a:solidFill>
                  <a:srgbClr val="BBBBBB"/>
                </a:solidFill>
                <a:latin typeface="Arial"/>
              </a:defRPr>
            </a:pPr>
            <a:r>
              <a:t>• 5-year historical analytics in &lt;2s</a:t>
            </a:r>
          </a:p>
          <a:p>
            <a:pPr algn="l">
              <a:spcBef>
                <a:spcPts val="600"/>
              </a:spcBef>
              <a:defRPr sz="1300" b="0">
                <a:solidFill>
                  <a:srgbClr val="BBBBBB"/>
                </a:solidFill>
                <a:latin typeface="Arial"/>
              </a:defRPr>
            </a:pPr>
            <a:r>
              <a:t>• 92% compression (15TB → 1TB at Cactos)</a:t>
            </a:r>
          </a:p>
          <a:p>
            <a:pPr algn="l">
              <a:spcBef>
                <a:spcPts val="600"/>
              </a:spcBef>
              <a:defRPr sz="1300" b="0">
                <a:solidFill>
                  <a:srgbClr val="BBBBBB"/>
                </a:solidFill>
                <a:latin typeface="Arial"/>
              </a:defRPr>
            </a:pPr>
            <a:r>
              <a:t>• S3 tiering, fully queryable</a:t>
            </a:r>
          </a:p>
          <a:p>
            <a:pPr algn="l">
              <a:spcBef>
                <a:spcPts val="600"/>
              </a:spcBef>
              <a:defRPr sz="1300" b="0">
                <a:solidFill>
                  <a:srgbClr val="BBBBBB"/>
                </a:solidFill>
                <a:latin typeface="Arial"/>
              </a:defRPr>
            </a:pPr>
            <a:r>
              <a:t>• Multi-domain decision queries</a:t>
            </a:r>
          </a:p>
        </p:txBody>
      </p:sp>
      <p:sp>
        <p:nvSpPr>
          <p:cNvPr id="5" name="TextBox 4"/>
          <p:cNvSpPr txBox="1"/>
          <p:nvPr/>
        </p:nvSpPr>
        <p:spPr>
          <a:xfrm>
            <a:off x="4846320" y="1097280"/>
            <a:ext cx="3657600" cy="365760"/>
          </a:xfrm>
          <a:prstGeom prst="rect">
            <a:avLst/>
          </a:prstGeom>
          <a:noFill/>
        </p:spPr>
        <p:txBody>
          <a:bodyPr wrap="square">
            <a:spAutoFit/>
          </a:bodyPr>
          <a:lstStyle/>
          <a:p>
            <a:pPr algn="l">
              <a:defRPr sz="1400" b="1">
                <a:solidFill>
                  <a:srgbClr val="FFAB40"/>
                </a:solidFill>
                <a:latin typeface="Arial"/>
              </a:defRPr>
            </a:pPr>
            <a:r>
              <a:t>How</a:t>
            </a:r>
          </a:p>
        </p:txBody>
      </p:sp>
      <p:sp>
        <p:nvSpPr>
          <p:cNvPr id="6" name="TextBox 5"/>
          <p:cNvSpPr txBox="1"/>
          <p:nvPr/>
        </p:nvSpPr>
        <p:spPr>
          <a:xfrm>
            <a:off x="4846320" y="1554480"/>
            <a:ext cx="3657600" cy="3017520"/>
          </a:xfrm>
          <a:prstGeom prst="rect">
            <a:avLst/>
          </a:prstGeom>
          <a:noFill/>
        </p:spPr>
        <p:txBody>
          <a:bodyPr wrap="square">
            <a:spAutoFit/>
          </a:bodyPr>
          <a:lstStyle/>
          <a:p>
            <a:pPr algn="l">
              <a:defRPr sz="1300" b="0">
                <a:solidFill>
                  <a:srgbClr val="BBBBBB"/>
                </a:solidFill>
                <a:latin typeface="Arial"/>
              </a:defRPr>
            </a:pPr>
          </a:p>
          <a:p>
            <a:pPr algn="l">
              <a:spcBef>
                <a:spcPts val="600"/>
              </a:spcBef>
              <a:defRPr sz="1300" b="0">
                <a:solidFill>
                  <a:srgbClr val="BBBBBB"/>
                </a:solidFill>
                <a:latin typeface="Arial"/>
              </a:defRPr>
            </a:pPr>
            <a:r>
              <a:t>• Hypertables with auto-partitioning</a:t>
            </a:r>
          </a:p>
          <a:p>
            <a:pPr algn="l">
              <a:spcBef>
                <a:spcPts val="600"/>
              </a:spcBef>
              <a:defRPr sz="1300" b="0">
                <a:solidFill>
                  <a:srgbClr val="BBBBBB"/>
                </a:solidFill>
                <a:latin typeface="Arial"/>
              </a:defRPr>
            </a:pPr>
            <a:r>
              <a:t>• Hierarchical CAGGs (1min→15min→1hr)</a:t>
            </a:r>
          </a:p>
          <a:p>
            <a:pPr algn="l">
              <a:spcBef>
                <a:spcPts val="600"/>
              </a:spcBef>
              <a:defRPr sz="1300" b="0">
                <a:solidFill>
                  <a:srgbClr val="BBBBBB"/>
                </a:solidFill>
                <a:latin typeface="Arial"/>
              </a:defRPr>
            </a:pPr>
            <a:r>
              <a:t>• Columnstore compression after 1 day</a:t>
            </a:r>
          </a:p>
          <a:p>
            <a:pPr algn="l">
              <a:spcBef>
                <a:spcPts val="600"/>
              </a:spcBef>
              <a:defRPr sz="1300" b="0">
                <a:solidFill>
                  <a:srgbClr val="BBBBBB"/>
                </a:solidFill>
                <a:latin typeface="Arial"/>
              </a:defRPr>
            </a:pPr>
            <a:r>
              <a:t>• Tiering policy: S3 after 3 months</a:t>
            </a:r>
          </a:p>
          <a:p>
            <a:pPr algn="l">
              <a:spcBef>
                <a:spcPts val="600"/>
              </a:spcBef>
              <a:defRPr sz="1300" b="0">
                <a:solidFill>
                  <a:srgbClr val="BBBBBB"/>
                </a:solidFill>
                <a:latin typeface="Arial"/>
              </a:defRPr>
            </a:pPr>
            <a:r>
              <a:t>• Retention policy: raw drops at 6 months</a:t>
            </a:r>
          </a:p>
          <a:p>
            <a:pPr algn="l">
              <a:spcBef>
                <a:spcPts val="600"/>
              </a:spcBef>
              <a:defRPr sz="1300" b="0">
                <a:solidFill>
                  <a:srgbClr val="BBBBBB"/>
                </a:solidFill>
                <a:latin typeface="Arial"/>
              </a:defRPr>
            </a:pPr>
            <a:r>
              <a:t>• JOINs: telemetry + prices + alarms + assets</a:t>
            </a:r>
          </a:p>
        </p:txBody>
      </p:sp>
      <p:sp>
        <p:nvSpPr>
          <p:cNvPr id="7" name="TextBox 6"/>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1645920"/>
            <a:ext cx="7680960" cy="548640"/>
          </a:xfrm>
          <a:prstGeom prst="rect">
            <a:avLst/>
          </a:prstGeom>
          <a:noFill/>
        </p:spPr>
        <p:txBody>
          <a:bodyPr wrap="square">
            <a:spAutoFit/>
          </a:bodyPr>
          <a:lstStyle/>
          <a:p>
            <a:pPr algn="l">
              <a:defRPr sz="4000" b="1">
                <a:solidFill>
                  <a:srgbClr val="4285F4"/>
                </a:solidFill>
                <a:latin typeface="Arial"/>
              </a:defRPr>
            </a:pPr>
            <a:r>
              <a:t>5.</a:t>
            </a:r>
          </a:p>
        </p:txBody>
      </p:sp>
      <p:sp>
        <p:nvSpPr>
          <p:cNvPr id="3" name="TextBox 2"/>
          <p:cNvSpPr txBox="1"/>
          <p:nvPr/>
        </p:nvSpPr>
        <p:spPr>
          <a:xfrm>
            <a:off x="731520" y="2286000"/>
            <a:ext cx="7680960" cy="914400"/>
          </a:xfrm>
          <a:prstGeom prst="rect">
            <a:avLst/>
          </a:prstGeom>
          <a:noFill/>
        </p:spPr>
        <p:txBody>
          <a:bodyPr wrap="square">
            <a:spAutoFit/>
          </a:bodyPr>
          <a:lstStyle/>
          <a:p>
            <a:pPr algn="l">
              <a:defRPr sz="2800" b="1">
                <a:solidFill>
                  <a:srgbClr val="FFFFFF"/>
                </a:solidFill>
                <a:latin typeface="Arial"/>
              </a:defRPr>
            </a:pPr>
            <a:r>
              <a:t>Query Pack</a:t>
            </a:r>
          </a:p>
        </p:txBody>
      </p:sp>
      <p:sp>
        <p:nvSpPr>
          <p:cNvPr id="4" name="TextBox 3"/>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731520" y="274320"/>
            <a:ext cx="1828800" cy="320040"/>
          </a:xfrm>
          <a:prstGeom prst="rect">
            <a:avLst/>
          </a:prstGeom>
          <a:noFill/>
        </p:spPr>
        <p:txBody>
          <a:bodyPr wrap="square">
            <a:spAutoFit/>
          </a:bodyPr>
          <a:lstStyle/>
          <a:p>
            <a:pPr algn="l">
              <a:defRPr sz="1000" b="1">
                <a:solidFill>
                  <a:srgbClr val="0097A7"/>
                </a:solidFill>
                <a:latin typeface="Arial"/>
              </a:defRPr>
            </a:pPr>
            <a:r>
              <a:t>BESS OPERATOR</a:t>
            </a:r>
          </a:p>
        </p:txBody>
      </p:sp>
      <p:sp>
        <p:nvSpPr>
          <p:cNvPr id="3" name="TextBox 2"/>
          <p:cNvSpPr txBox="1"/>
          <p:nvPr/>
        </p:nvSpPr>
        <p:spPr>
          <a:xfrm>
            <a:off x="731520" y="594360"/>
            <a:ext cx="7680960" cy="457200"/>
          </a:xfrm>
          <a:prstGeom prst="rect">
            <a:avLst/>
          </a:prstGeom>
          <a:noFill/>
        </p:spPr>
        <p:txBody>
          <a:bodyPr wrap="square">
            <a:spAutoFit/>
          </a:bodyPr>
          <a:lstStyle/>
          <a:p>
            <a:pPr algn="l">
              <a:defRPr sz="1800" b="1">
                <a:solidFill>
                  <a:srgbClr val="FFFFFF"/>
                </a:solidFill>
                <a:latin typeface="Arial"/>
              </a:defRPr>
            </a:pPr>
            <a:r>
              <a:t>What is happening across my fleet right now?</a:t>
            </a:r>
          </a:p>
        </p:txBody>
      </p:sp>
      <p:sp>
        <p:nvSpPr>
          <p:cNvPr id="4" name="TextBox 3"/>
          <p:cNvSpPr txBox="1"/>
          <p:nvPr/>
        </p:nvSpPr>
        <p:spPr>
          <a:xfrm>
            <a:off x="731520" y="1188720"/>
            <a:ext cx="7680960" cy="2560320"/>
          </a:xfrm>
          <a:prstGeom prst="rect">
            <a:avLst/>
          </a:prstGeom>
          <a:solidFill>
            <a:srgbClr val="12121A"/>
          </a:solidFill>
          <a:ln>
            <a:noFill/>
          </a:ln>
        </p:spPr>
        <p:txBody>
          <a:bodyPr wrap="square">
            <a:spAutoFit/>
          </a:bodyPr>
          <a:lstStyle/>
          <a:p>
            <a:pPr>
              <a:defRPr sz="900" b="0">
                <a:solidFill>
                  <a:srgbClr val="A0D0FF"/>
                </a:solidFill>
                <a:latin typeface="Courier New"/>
              </a:defRPr>
            </a:pPr>
            <a:r>
              <a:t>SELECT DISTINCT ON (s.site_id)</a:t>
            </a:r>
            <a:br/>
            <a:r>
              <a:t>  s.name AS site_name,</a:t>
            </a:r>
            <a:br/>
            <a:r>
              <a:t>  t.bucket AS latest_time,</a:t>
            </a:r>
            <a:br/>
            <a:r>
              <a:t>  t.avg_site_power_mw,</a:t>
            </a:r>
            <a:br/>
            <a:r>
              <a:t>  t.avg_soc_pct AS soc_pct,</a:t>
            </a:r>
            <a:br/>
            <a:r>
              <a:t>  t.avg_soh_pct AS soh_pct,</a:t>
            </a:r>
            <a:br/>
            <a:r>
              <a:t>  t.avg_inverter_temp_c,</a:t>
            </a:r>
            <a:br/>
            <a:r>
              <a:t>  t.avg_rack_temp_c</a:t>
            </a:r>
            <a:br/>
            <a:r>
              <a:t>FROM sites s</a:t>
            </a:r>
            <a:br/>
            <a:r>
              <a:t>JOIN telemetry_1min t ON t.site_id = s.site_id</a:t>
            </a:r>
            <a:br/>
            <a:r>
              <a:t>WHERE t.bucket &gt; NOW() - INTERVAL '10 minutes'</a:t>
            </a:r>
            <a:br/>
            <a:r>
              <a:t>ORDER BY s.site_id, t.bucket DESC;</a:t>
            </a:r>
          </a:p>
        </p:txBody>
      </p:sp>
      <p:sp>
        <p:nvSpPr>
          <p:cNvPr id="5" name="TextBox 4"/>
          <p:cNvSpPr txBox="1"/>
          <p:nvPr/>
        </p:nvSpPr>
        <p:spPr>
          <a:xfrm>
            <a:off x="731520" y="3886200"/>
            <a:ext cx="5029200" cy="320040"/>
          </a:xfrm>
          <a:prstGeom prst="rect">
            <a:avLst/>
          </a:prstGeom>
          <a:noFill/>
        </p:spPr>
        <p:txBody>
          <a:bodyPr wrap="square">
            <a:spAutoFit/>
          </a:bodyPr>
          <a:lstStyle/>
          <a:p>
            <a:pPr algn="l">
              <a:defRPr sz="1100" b="1">
                <a:solidFill>
                  <a:srgbClr val="FFAB40"/>
                </a:solidFill>
                <a:latin typeface="Arial"/>
              </a:defRPr>
            </a:pPr>
            <a:r>
              <a:t>Decision: Do I need to intervene on any site?</a:t>
            </a:r>
          </a:p>
        </p:txBody>
      </p:sp>
      <p:sp>
        <p:nvSpPr>
          <p:cNvPr id="6" name="TextBox 5"/>
          <p:cNvSpPr txBox="1"/>
          <p:nvPr/>
        </p:nvSpPr>
        <p:spPr>
          <a:xfrm>
            <a:off x="5943600" y="3886200"/>
            <a:ext cx="2926080" cy="320040"/>
          </a:xfrm>
          <a:prstGeom prst="rect">
            <a:avLst/>
          </a:prstGeom>
          <a:noFill/>
        </p:spPr>
        <p:txBody>
          <a:bodyPr wrap="square">
            <a:spAutoFit/>
          </a:bodyPr>
          <a:lstStyle/>
          <a:p>
            <a:pPr algn="r">
              <a:defRPr sz="1000" b="0">
                <a:solidFill>
                  <a:srgbClr val="0097A7"/>
                </a:solidFill>
                <a:latin typeface="Arial"/>
              </a:defRPr>
            </a:pPr>
            <a:r>
              <a:t>Last-state query • 1-min Continuous Aggregate • &lt;100ms</a:t>
            </a:r>
          </a:p>
        </p:txBody>
      </p:sp>
      <p:sp>
        <p:nvSpPr>
          <p:cNvPr id="7" name="TextBox 6"/>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731520" y="274320"/>
            <a:ext cx="1828800" cy="320040"/>
          </a:xfrm>
          <a:prstGeom prst="rect">
            <a:avLst/>
          </a:prstGeom>
          <a:noFill/>
        </p:spPr>
        <p:txBody>
          <a:bodyPr wrap="square">
            <a:spAutoFit/>
          </a:bodyPr>
          <a:lstStyle/>
          <a:p>
            <a:pPr algn="l">
              <a:defRPr sz="1000" b="1">
                <a:solidFill>
                  <a:srgbClr val="0097A7"/>
                </a:solidFill>
                <a:latin typeface="Arial"/>
              </a:defRPr>
            </a:pPr>
            <a:r>
              <a:t>PLATFORM ENGINEER</a:t>
            </a:r>
          </a:p>
        </p:txBody>
      </p:sp>
      <p:sp>
        <p:nvSpPr>
          <p:cNvPr id="3" name="TextBox 2"/>
          <p:cNvSpPr txBox="1"/>
          <p:nvPr/>
        </p:nvSpPr>
        <p:spPr>
          <a:xfrm>
            <a:off x="731520" y="594360"/>
            <a:ext cx="7680960" cy="457200"/>
          </a:xfrm>
          <a:prstGeom prst="rect">
            <a:avLst/>
          </a:prstGeom>
          <a:noFill/>
        </p:spPr>
        <p:txBody>
          <a:bodyPr wrap="square">
            <a:spAutoFit/>
          </a:bodyPr>
          <a:lstStyle/>
          <a:p>
            <a:pPr algn="l">
              <a:defRPr sz="1800" b="1">
                <a:solidFill>
                  <a:srgbClr val="FFFFFF"/>
                </a:solidFill>
                <a:latin typeface="Arial"/>
              </a:defRPr>
            </a:pPr>
            <a:r>
              <a:t>How fast are my dashboard aggregations?</a:t>
            </a:r>
          </a:p>
        </p:txBody>
      </p:sp>
      <p:sp>
        <p:nvSpPr>
          <p:cNvPr id="4" name="TextBox 3"/>
          <p:cNvSpPr txBox="1"/>
          <p:nvPr/>
        </p:nvSpPr>
        <p:spPr>
          <a:xfrm>
            <a:off x="457200" y="1188720"/>
            <a:ext cx="3840480" cy="320040"/>
          </a:xfrm>
          <a:prstGeom prst="rect">
            <a:avLst/>
          </a:prstGeom>
          <a:noFill/>
        </p:spPr>
        <p:txBody>
          <a:bodyPr wrap="square">
            <a:spAutoFit/>
          </a:bodyPr>
          <a:lstStyle/>
          <a:p>
            <a:pPr algn="l">
              <a:defRPr sz="1200" b="1">
                <a:solidFill>
                  <a:srgbClr val="E53935"/>
                </a:solidFill>
                <a:latin typeface="Arial"/>
              </a:defRPr>
            </a:pPr>
            <a:r>
              <a:t>Raw Table Scan</a:t>
            </a:r>
          </a:p>
        </p:txBody>
      </p:sp>
      <p:sp>
        <p:nvSpPr>
          <p:cNvPr id="5" name="TextBox 4"/>
          <p:cNvSpPr txBox="1"/>
          <p:nvPr/>
        </p:nvSpPr>
        <p:spPr>
          <a:xfrm>
            <a:off x="457200" y="1554480"/>
            <a:ext cx="3840480" cy="2011680"/>
          </a:xfrm>
          <a:prstGeom prst="rect">
            <a:avLst/>
          </a:prstGeom>
          <a:solidFill>
            <a:srgbClr val="12121A"/>
          </a:solidFill>
        </p:spPr>
        <p:txBody>
          <a:bodyPr wrap="square">
            <a:spAutoFit/>
          </a:bodyPr>
          <a:lstStyle/>
          <a:p>
            <a:pPr>
              <a:defRPr sz="800">
                <a:solidFill>
                  <a:srgbClr val="FF8080"/>
                </a:solidFill>
                <a:latin typeface="Courier New"/>
              </a:defRPr>
            </a:pPr>
            <a:r>
              <a:t>EXPLAIN ANALYZE</a:t>
            </a:r>
            <a:br/>
            <a:r>
              <a:t>SELECT</a:t>
            </a:r>
            <a:br/>
            <a:r>
              <a:t>  time_bucket('15 min', ts) AS bucket,</a:t>
            </a:r>
            <a:br/>
            <a:r>
              <a:t>  avg(site_power_mw),</a:t>
            </a:r>
            <a:br/>
            <a:r>
              <a:t>  avg(state_of_charge_pct)</a:t>
            </a:r>
            <a:br/>
            <a:r>
              <a:t>FROM telemetry_raw</a:t>
            </a:r>
            <a:br/>
            <a:r>
              <a:t>WHERE ts &gt;= now() - INTERVAL '1 hour'</a:t>
            </a:r>
            <a:br/>
            <a:r>
              <a:t>GROUP BY bucket;</a:t>
            </a:r>
          </a:p>
        </p:txBody>
      </p:sp>
      <p:sp>
        <p:nvSpPr>
          <p:cNvPr id="6" name="TextBox 5"/>
          <p:cNvSpPr txBox="1"/>
          <p:nvPr/>
        </p:nvSpPr>
        <p:spPr>
          <a:xfrm>
            <a:off x="457200" y="3657600"/>
            <a:ext cx="3840480" cy="274320"/>
          </a:xfrm>
          <a:prstGeom prst="rect">
            <a:avLst/>
          </a:prstGeom>
          <a:noFill/>
        </p:spPr>
        <p:txBody>
          <a:bodyPr wrap="square">
            <a:spAutoFit/>
          </a:bodyPr>
          <a:lstStyle/>
          <a:p>
            <a:pPr algn="l">
              <a:defRPr sz="1000" b="0">
                <a:solidFill>
                  <a:srgbClr val="E53935"/>
                </a:solidFill>
                <a:latin typeface="Arial"/>
              </a:defRPr>
            </a:pPr>
            <a:r>
              <a:t>⏱ 2,300ms  •  Scans millions of raw rows</a:t>
            </a:r>
          </a:p>
        </p:txBody>
      </p:sp>
      <p:sp>
        <p:nvSpPr>
          <p:cNvPr id="7" name="TextBox 6"/>
          <p:cNvSpPr txBox="1"/>
          <p:nvPr/>
        </p:nvSpPr>
        <p:spPr>
          <a:xfrm>
            <a:off x="4754880" y="1188720"/>
            <a:ext cx="3840480" cy="320040"/>
          </a:xfrm>
          <a:prstGeom prst="rect">
            <a:avLst/>
          </a:prstGeom>
          <a:noFill/>
        </p:spPr>
        <p:txBody>
          <a:bodyPr wrap="square">
            <a:spAutoFit/>
          </a:bodyPr>
          <a:lstStyle/>
          <a:p>
            <a:pPr algn="l">
              <a:defRPr sz="1200" b="1">
                <a:solidFill>
                  <a:srgbClr val="4CAF50"/>
                </a:solidFill>
                <a:latin typeface="Arial"/>
              </a:defRPr>
            </a:pPr>
            <a:r>
              <a:t>Continuous Aggregate</a:t>
            </a:r>
          </a:p>
        </p:txBody>
      </p:sp>
      <p:sp>
        <p:nvSpPr>
          <p:cNvPr id="8" name="TextBox 7"/>
          <p:cNvSpPr txBox="1"/>
          <p:nvPr/>
        </p:nvSpPr>
        <p:spPr>
          <a:xfrm>
            <a:off x="4754880" y="1554480"/>
            <a:ext cx="3840480" cy="2011680"/>
          </a:xfrm>
          <a:prstGeom prst="rect">
            <a:avLst/>
          </a:prstGeom>
          <a:solidFill>
            <a:srgbClr val="12121A"/>
          </a:solidFill>
        </p:spPr>
        <p:txBody>
          <a:bodyPr wrap="square">
            <a:spAutoFit/>
          </a:bodyPr>
          <a:lstStyle/>
          <a:p>
            <a:pPr>
              <a:defRPr sz="800">
                <a:solidFill>
                  <a:srgbClr val="80FF80"/>
                </a:solidFill>
                <a:latin typeface="Courier New"/>
              </a:defRPr>
            </a:pPr>
            <a:r>
              <a:t>SELECT</a:t>
            </a:r>
            <a:br/>
            <a:r>
              <a:t>  bucket,</a:t>
            </a:r>
            <a:br/>
            <a:r>
              <a:t>  avg_site_power_mw,</a:t>
            </a:r>
            <a:br/>
            <a:r>
              <a:t>  avg_soc_pct</a:t>
            </a:r>
            <a:br/>
            <a:r>
              <a:t>FROM telemetry_15min</a:t>
            </a:r>
            <a:br/>
            <a:r>
              <a:t>WHERE bucket &gt;= now()</a:t>
            </a:r>
            <a:br/>
            <a:r>
              <a:t>      - INTERVAL '1 hour';</a:t>
            </a:r>
          </a:p>
        </p:txBody>
      </p:sp>
      <p:sp>
        <p:nvSpPr>
          <p:cNvPr id="9" name="TextBox 8"/>
          <p:cNvSpPr txBox="1"/>
          <p:nvPr/>
        </p:nvSpPr>
        <p:spPr>
          <a:xfrm>
            <a:off x="4754880" y="3657600"/>
            <a:ext cx="3840480" cy="274320"/>
          </a:xfrm>
          <a:prstGeom prst="rect">
            <a:avLst/>
          </a:prstGeom>
          <a:noFill/>
        </p:spPr>
        <p:txBody>
          <a:bodyPr wrap="square">
            <a:spAutoFit/>
          </a:bodyPr>
          <a:lstStyle/>
          <a:p>
            <a:pPr algn="l">
              <a:defRPr sz="1000" b="0">
                <a:solidFill>
                  <a:srgbClr val="4CAF50"/>
                </a:solidFill>
                <a:latin typeface="Arial"/>
              </a:defRPr>
            </a:pPr>
            <a:r>
              <a:t>⏱ 46ms  •  Pre-computed, incremental refresh</a:t>
            </a:r>
          </a:p>
        </p:txBody>
      </p:sp>
      <p:sp>
        <p:nvSpPr>
          <p:cNvPr id="10" name="TextBox 9"/>
          <p:cNvSpPr txBox="1"/>
          <p:nvPr/>
        </p:nvSpPr>
        <p:spPr>
          <a:xfrm>
            <a:off x="731520" y="4114800"/>
            <a:ext cx="7680960" cy="365760"/>
          </a:xfrm>
          <a:prstGeom prst="rect">
            <a:avLst/>
          </a:prstGeom>
          <a:noFill/>
        </p:spPr>
        <p:txBody>
          <a:bodyPr wrap="square">
            <a:spAutoFit/>
          </a:bodyPr>
          <a:lstStyle/>
          <a:p>
            <a:pPr algn="ctr">
              <a:defRPr sz="1400" b="1">
                <a:solidFill>
                  <a:srgbClr val="FFAB40"/>
                </a:solidFill>
                <a:latin typeface="Arial"/>
              </a:defRPr>
            </a:pPr>
            <a:r>
              <a:t>Same result. 50x faster. No ETL pipeline.</a:t>
            </a:r>
          </a:p>
        </p:txBody>
      </p:sp>
      <p:sp>
        <p:nvSpPr>
          <p:cNvPr id="11" name="TextBox 10"/>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731520" y="274320"/>
            <a:ext cx="1828800" cy="320040"/>
          </a:xfrm>
          <a:prstGeom prst="rect">
            <a:avLst/>
          </a:prstGeom>
          <a:noFill/>
        </p:spPr>
        <p:txBody>
          <a:bodyPr wrap="square">
            <a:spAutoFit/>
          </a:bodyPr>
          <a:lstStyle/>
          <a:p>
            <a:pPr algn="l">
              <a:defRPr sz="1000" b="1">
                <a:solidFill>
                  <a:srgbClr val="0097A7"/>
                </a:solidFill>
                <a:latin typeface="Arial"/>
              </a:defRPr>
            </a:pPr>
            <a:r>
              <a:t>ASSET MANAGER</a:t>
            </a:r>
          </a:p>
        </p:txBody>
      </p:sp>
      <p:sp>
        <p:nvSpPr>
          <p:cNvPr id="3" name="TextBox 2"/>
          <p:cNvSpPr txBox="1"/>
          <p:nvPr/>
        </p:nvSpPr>
        <p:spPr>
          <a:xfrm>
            <a:off x="731520" y="594360"/>
            <a:ext cx="7680960" cy="457200"/>
          </a:xfrm>
          <a:prstGeom prst="rect">
            <a:avLst/>
          </a:prstGeom>
          <a:noFill/>
        </p:spPr>
        <p:txBody>
          <a:bodyPr wrap="square">
            <a:spAutoFit/>
          </a:bodyPr>
          <a:lstStyle/>
          <a:p>
            <a:pPr algn="l">
              <a:defRPr sz="1800" b="1">
                <a:solidFill>
                  <a:srgbClr val="FFFFFF"/>
                </a:solidFill>
                <a:latin typeface="Arial"/>
              </a:defRPr>
            </a:pPr>
            <a:r>
              <a:t>How has this asset's health trended over the last 30 days?</a:t>
            </a:r>
          </a:p>
        </p:txBody>
      </p:sp>
      <p:sp>
        <p:nvSpPr>
          <p:cNvPr id="4" name="TextBox 3"/>
          <p:cNvSpPr txBox="1"/>
          <p:nvPr/>
        </p:nvSpPr>
        <p:spPr>
          <a:xfrm>
            <a:off x="731520" y="1188720"/>
            <a:ext cx="7680960" cy="2560320"/>
          </a:xfrm>
          <a:prstGeom prst="rect">
            <a:avLst/>
          </a:prstGeom>
          <a:solidFill>
            <a:srgbClr val="12121A"/>
          </a:solidFill>
          <a:ln>
            <a:noFill/>
          </a:ln>
        </p:spPr>
        <p:txBody>
          <a:bodyPr wrap="square">
            <a:spAutoFit/>
          </a:bodyPr>
          <a:lstStyle/>
          <a:p>
            <a:pPr>
              <a:defRPr sz="900" b="0">
                <a:solidFill>
                  <a:srgbClr val="A0D0FF"/>
                </a:solidFill>
                <a:latin typeface="Courier New"/>
              </a:defRPr>
            </a:pPr>
            <a:r>
              <a:t>SELECT</a:t>
            </a:r>
            <a:br/>
            <a:r>
              <a:t>  bucket,</a:t>
            </a:r>
            <a:br/>
            <a:r>
              <a:t>  avg_soh_pct,</a:t>
            </a:r>
            <a:br/>
            <a:r>
              <a:t>  avg_cell_voltage,</a:t>
            </a:r>
            <a:br/>
            <a:r>
              <a:t>  max_inverter_temp_c,</a:t>
            </a:r>
            <a:br/>
            <a:r>
              <a:t>  avg_rte AS round_trip_efficiency</a:t>
            </a:r>
            <a:br/>
            <a:r>
              <a:t>FROM telemetry_1hour</a:t>
            </a:r>
            <a:br/>
            <a:r>
              <a:t>WHERE site_id = '00000000-0000-0000-0001-000000000001'</a:t>
            </a:r>
            <a:br/>
            <a:r>
              <a:t>  AND bucket &gt;= NOW() - INTERVAL '30 days'</a:t>
            </a:r>
            <a:br/>
            <a:r>
              <a:t>ORDER BY bucket;</a:t>
            </a:r>
            <a:br/>
            <a:br/>
            <a:r>
              <a:t>-- 720 data points, scans compressed columnstore chunks</a:t>
            </a:r>
            <a:br/>
            <a:r>
              <a:t>-- Hierarchical CAGG: raw → 1min → 15min → 1hour</a:t>
            </a:r>
            <a:br/>
            <a:r>
              <a:t>-- Fast on Timescale, painful on vanilla Postgres</a:t>
            </a:r>
          </a:p>
        </p:txBody>
      </p:sp>
      <p:sp>
        <p:nvSpPr>
          <p:cNvPr id="5" name="TextBox 4"/>
          <p:cNvSpPr txBox="1"/>
          <p:nvPr/>
        </p:nvSpPr>
        <p:spPr>
          <a:xfrm>
            <a:off x="731520" y="3886200"/>
            <a:ext cx="5029200" cy="320040"/>
          </a:xfrm>
          <a:prstGeom prst="rect">
            <a:avLst/>
          </a:prstGeom>
          <a:noFill/>
        </p:spPr>
        <p:txBody>
          <a:bodyPr wrap="square">
            <a:spAutoFit/>
          </a:bodyPr>
          <a:lstStyle/>
          <a:p>
            <a:pPr algn="l">
              <a:defRPr sz="1100" b="1">
                <a:solidFill>
                  <a:srgbClr val="FFAB40"/>
                </a:solidFill>
                <a:latin typeface="Arial"/>
              </a:defRPr>
            </a:pPr>
            <a:r>
              <a:t>Decision: Is this battery degrading faster than expected? Schedule maintenance?</a:t>
            </a:r>
          </a:p>
        </p:txBody>
      </p:sp>
      <p:sp>
        <p:nvSpPr>
          <p:cNvPr id="6" name="TextBox 5"/>
          <p:cNvSpPr txBox="1"/>
          <p:nvPr/>
        </p:nvSpPr>
        <p:spPr>
          <a:xfrm>
            <a:off x="5943600" y="3886200"/>
            <a:ext cx="2926080" cy="320040"/>
          </a:xfrm>
          <a:prstGeom prst="rect">
            <a:avLst/>
          </a:prstGeom>
          <a:noFill/>
        </p:spPr>
        <p:txBody>
          <a:bodyPr wrap="square">
            <a:spAutoFit/>
          </a:bodyPr>
          <a:lstStyle/>
          <a:p>
            <a:pPr algn="r">
              <a:defRPr sz="1000" b="0">
                <a:solidFill>
                  <a:srgbClr val="0097A7"/>
                </a:solidFill>
                <a:latin typeface="Arial"/>
              </a:defRPr>
            </a:pPr>
            <a:r>
              <a:t>Narrow deep query • 1-hour CAGG over compressed columnstore • &lt;100ms</a:t>
            </a:r>
          </a:p>
        </p:txBody>
      </p:sp>
      <p:sp>
        <p:nvSpPr>
          <p:cNvPr id="7" name="TextBox 6"/>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731520" y="274320"/>
            <a:ext cx="1828800" cy="320040"/>
          </a:xfrm>
          <a:prstGeom prst="rect">
            <a:avLst/>
          </a:prstGeom>
          <a:noFill/>
        </p:spPr>
        <p:txBody>
          <a:bodyPr wrap="square">
            <a:spAutoFit/>
          </a:bodyPr>
          <a:lstStyle/>
          <a:p>
            <a:pPr algn="l">
              <a:defRPr sz="1000" b="1">
                <a:solidFill>
                  <a:srgbClr val="0097A7"/>
                </a:solidFill>
                <a:latin typeface="Arial"/>
              </a:defRPr>
            </a:pPr>
            <a:r>
              <a:t>ENERGY TRADER</a:t>
            </a:r>
          </a:p>
        </p:txBody>
      </p:sp>
      <p:sp>
        <p:nvSpPr>
          <p:cNvPr id="3" name="TextBox 2"/>
          <p:cNvSpPr txBox="1"/>
          <p:nvPr/>
        </p:nvSpPr>
        <p:spPr>
          <a:xfrm>
            <a:off x="731520" y="594360"/>
            <a:ext cx="7680960" cy="457200"/>
          </a:xfrm>
          <a:prstGeom prst="rect">
            <a:avLst/>
          </a:prstGeom>
          <a:noFill/>
        </p:spPr>
        <p:txBody>
          <a:bodyPr wrap="square">
            <a:spAutoFit/>
          </a:bodyPr>
          <a:lstStyle/>
          <a:p>
            <a:pPr algn="l">
              <a:defRPr sz="1800" b="1">
                <a:solidFill>
                  <a:srgbClr val="FFFFFF"/>
                </a:solidFill>
                <a:latin typeface="Arial"/>
              </a:defRPr>
            </a:pPr>
            <a:r>
              <a:t>Where should I dispatch for maximum revenue right now?</a:t>
            </a:r>
          </a:p>
        </p:txBody>
      </p:sp>
      <p:sp>
        <p:nvSpPr>
          <p:cNvPr id="4" name="TextBox 3"/>
          <p:cNvSpPr txBox="1"/>
          <p:nvPr/>
        </p:nvSpPr>
        <p:spPr>
          <a:xfrm>
            <a:off x="731520" y="1188720"/>
            <a:ext cx="7680960" cy="2560320"/>
          </a:xfrm>
          <a:prstGeom prst="rect">
            <a:avLst/>
          </a:prstGeom>
          <a:solidFill>
            <a:srgbClr val="12121A"/>
          </a:solidFill>
          <a:ln>
            <a:noFill/>
          </a:ln>
        </p:spPr>
        <p:txBody>
          <a:bodyPr wrap="square">
            <a:spAutoFit/>
          </a:bodyPr>
          <a:lstStyle/>
          <a:p>
            <a:pPr>
              <a:defRPr sz="900" b="0">
                <a:solidFill>
                  <a:srgbClr val="A0D0FF"/>
                </a:solidFill>
                <a:latin typeface="Courier New"/>
              </a:defRPr>
            </a:pPr>
            <a:r>
              <a:t>SELECT</a:t>
            </a:r>
            <a:br/>
            <a:r>
              <a:t>  s.name, lp.market, lp.price_usd_mwh,</a:t>
            </a:r>
            <a:br/>
            <a:r>
              <a:t>  ls.avg_soc_pct, s.capacity_mw,</a:t>
            </a:r>
            <a:br/>
            <a:r>
              <a:t>  ROUND((s.capacity_mw * lp.price_usd_mwh)::numeric, 0)</a:t>
            </a:r>
            <a:br/>
            <a:r>
              <a:t>    AS revenue_per_hour_usd</a:t>
            </a:r>
            <a:br/>
            <a:r>
              <a:t>FROM (</a:t>
            </a:r>
            <a:br/>
            <a:r>
              <a:t>  SELECT DISTINCT ON (site_id)</a:t>
            </a:r>
            <a:br/>
            <a:r>
              <a:t>    site_id, avg_soc_pct</a:t>
            </a:r>
            <a:br/>
            <a:r>
              <a:t>  FROM telemetry_1min</a:t>
            </a:r>
            <a:br/>
            <a:r>
              <a:t>  WHERE bucket &gt; NOW() - INTERVAL '10 minutes'</a:t>
            </a:r>
            <a:br/>
            <a:r>
              <a:t>  ORDER BY site_id, bucket DESC</a:t>
            </a:r>
            <a:br/>
            <a:r>
              <a:t>) ls</a:t>
            </a:r>
            <a:br/>
            <a:r>
              <a:t>JOIN sites s ON s.site_id = ls.site_id</a:t>
            </a:r>
            <a:br/>
            <a:r>
              <a:t>JOIN organizations o ON o.org_id = s.org_id</a:t>
            </a:r>
            <a:br/>
            <a:r>
              <a:t>LEFT JOIN (</a:t>
            </a:r>
            <a:br/>
            <a:r>
              <a:t>  SELECT DISTINCT ON (region)</a:t>
            </a:r>
            <a:br/>
            <a:r>
              <a:t>    region, market, price_usd_mwh</a:t>
            </a:r>
            <a:br/>
            <a:r>
              <a:t>  FROM market_price_signals</a:t>
            </a:r>
            <a:br/>
            <a:r>
              <a:t>  WHERE ts &gt; NOW() - INTERVAL '30 minutes'</a:t>
            </a:r>
            <a:br/>
            <a:r>
              <a:t>  ORDER BY region, ts DESC</a:t>
            </a:r>
            <a:br/>
            <a:r>
              <a:t>) lp ON lp.region = o.region</a:t>
            </a:r>
            <a:br/>
            <a:r>
              <a:t>ORDER BY revenue_per_hour_usd DESC;</a:t>
            </a:r>
          </a:p>
        </p:txBody>
      </p:sp>
      <p:sp>
        <p:nvSpPr>
          <p:cNvPr id="5" name="TextBox 4"/>
          <p:cNvSpPr txBox="1"/>
          <p:nvPr/>
        </p:nvSpPr>
        <p:spPr>
          <a:xfrm>
            <a:off x="731520" y="3886200"/>
            <a:ext cx="5029200" cy="320040"/>
          </a:xfrm>
          <a:prstGeom prst="rect">
            <a:avLst/>
          </a:prstGeom>
          <a:noFill/>
        </p:spPr>
        <p:txBody>
          <a:bodyPr wrap="square">
            <a:spAutoFit/>
          </a:bodyPr>
          <a:lstStyle/>
          <a:p>
            <a:pPr algn="l">
              <a:defRPr sz="1100" b="1">
                <a:solidFill>
                  <a:srgbClr val="FFAB40"/>
                </a:solidFill>
                <a:latin typeface="Arial"/>
              </a:defRPr>
            </a:pPr>
            <a:r>
              <a:t>Decision: Dispatch this site at this price for estimated $/hr revenue</a:t>
            </a:r>
          </a:p>
        </p:txBody>
      </p:sp>
      <p:sp>
        <p:nvSpPr>
          <p:cNvPr id="6" name="TextBox 5"/>
          <p:cNvSpPr txBox="1"/>
          <p:nvPr/>
        </p:nvSpPr>
        <p:spPr>
          <a:xfrm>
            <a:off x="5943600" y="3886200"/>
            <a:ext cx="2926080" cy="320040"/>
          </a:xfrm>
          <a:prstGeom prst="rect">
            <a:avLst/>
          </a:prstGeom>
          <a:noFill/>
        </p:spPr>
        <p:txBody>
          <a:bodyPr wrap="square">
            <a:spAutoFit/>
          </a:bodyPr>
          <a:lstStyle/>
          <a:p>
            <a:pPr algn="r">
              <a:defRPr sz="1000" b="0">
                <a:solidFill>
                  <a:srgbClr val="0097A7"/>
                </a:solidFill>
                <a:latin typeface="Arial"/>
              </a:defRPr>
            </a:pPr>
            <a:r>
              <a:t>Multi-table JOIN • telemetry + prices + sites + orgs • One Postgres query</a:t>
            </a:r>
          </a:p>
        </p:txBody>
      </p:sp>
      <p:sp>
        <p:nvSpPr>
          <p:cNvPr id="7" name="TextBox 6"/>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1645920"/>
            <a:ext cx="7680960" cy="548640"/>
          </a:xfrm>
          <a:prstGeom prst="rect">
            <a:avLst/>
          </a:prstGeom>
          <a:noFill/>
        </p:spPr>
        <p:txBody>
          <a:bodyPr wrap="square">
            <a:spAutoFit/>
          </a:bodyPr>
          <a:lstStyle/>
          <a:p>
            <a:pPr algn="l">
              <a:defRPr sz="4000" b="1">
                <a:solidFill>
                  <a:srgbClr val="4285F4"/>
                </a:solidFill>
                <a:latin typeface="Arial"/>
              </a:defRPr>
            </a:pPr>
            <a:r>
              <a:t>6.</a:t>
            </a:r>
          </a:p>
        </p:txBody>
      </p:sp>
      <p:sp>
        <p:nvSpPr>
          <p:cNvPr id="3" name="TextBox 2"/>
          <p:cNvSpPr txBox="1"/>
          <p:nvPr/>
        </p:nvSpPr>
        <p:spPr>
          <a:xfrm>
            <a:off x="731520" y="2286000"/>
            <a:ext cx="7680960" cy="914400"/>
          </a:xfrm>
          <a:prstGeom prst="rect">
            <a:avLst/>
          </a:prstGeom>
          <a:noFill/>
        </p:spPr>
        <p:txBody>
          <a:bodyPr wrap="square">
            <a:spAutoFit/>
          </a:bodyPr>
          <a:lstStyle/>
          <a:p>
            <a:pPr algn="l">
              <a:defRPr sz="2800" b="1">
                <a:solidFill>
                  <a:srgbClr val="FFFFFF"/>
                </a:solidFill>
                <a:latin typeface="Arial"/>
              </a:defRPr>
            </a:pPr>
            <a:r>
              <a:t>Customer Proof Points</a:t>
            </a:r>
          </a:p>
        </p:txBody>
      </p:sp>
      <p:sp>
        <p:nvSpPr>
          <p:cNvPr id="4" name="TextBox 3"/>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457200" y="182880"/>
            <a:ext cx="8229600" cy="640080"/>
          </a:xfrm>
          <a:prstGeom prst="rect">
            <a:avLst/>
          </a:prstGeom>
          <a:noFill/>
        </p:spPr>
        <p:txBody>
          <a:bodyPr wrap="square">
            <a:spAutoFit/>
          </a:bodyPr>
          <a:lstStyle/>
          <a:p>
            <a:pPr algn="l">
              <a:defRPr sz="1400" b="1">
                <a:solidFill>
                  <a:srgbClr val="FFFFFF"/>
                </a:solidFill>
                <a:latin typeface="Arial"/>
              </a:defRPr>
            </a:pPr>
            <a:r>
              <a:t>Cactos migrates 15TB BESS fleet telemetry from Amazon RDS and cuts costs by 55%</a:t>
            </a:r>
          </a:p>
        </p:txBody>
      </p:sp>
      <p:sp>
        <p:nvSpPr>
          <p:cNvPr id="3" name="TextBox 2"/>
          <p:cNvSpPr txBox="1"/>
          <p:nvPr/>
        </p:nvSpPr>
        <p:spPr>
          <a:xfrm>
            <a:off x="457200" y="868680"/>
            <a:ext cx="2560320" cy="274320"/>
          </a:xfrm>
          <a:prstGeom prst="rect">
            <a:avLst/>
          </a:prstGeom>
          <a:noFill/>
        </p:spPr>
        <p:txBody>
          <a:bodyPr wrap="square">
            <a:spAutoFit/>
          </a:bodyPr>
          <a:lstStyle/>
          <a:p>
            <a:pPr algn="l">
              <a:defRPr sz="1100" b="1">
                <a:solidFill>
                  <a:srgbClr val="4285F4"/>
                </a:solidFill>
                <a:latin typeface="Arial"/>
              </a:defRPr>
            </a:pPr>
            <a:r>
              <a:t>Application:</a:t>
            </a:r>
          </a:p>
        </p:txBody>
      </p:sp>
      <p:sp>
        <p:nvSpPr>
          <p:cNvPr id="4" name="TextBox 3"/>
          <p:cNvSpPr txBox="1"/>
          <p:nvPr/>
        </p:nvSpPr>
        <p:spPr>
          <a:xfrm>
            <a:off x="457200" y="1188720"/>
            <a:ext cx="2560320" cy="2286000"/>
          </a:xfrm>
          <a:prstGeom prst="rect">
            <a:avLst/>
          </a:prstGeom>
          <a:noFill/>
        </p:spPr>
        <p:txBody>
          <a:bodyPr wrap="square">
            <a:spAutoFit/>
          </a:bodyPr>
          <a:lstStyle/>
          <a:p>
            <a:pPr algn="l">
              <a:defRPr sz="800" b="0">
                <a:solidFill>
                  <a:srgbClr val="BBBBBB"/>
                </a:solidFill>
                <a:latin typeface="Arial"/>
              </a:defRPr>
            </a:pPr>
            <a:r>
              <a:t>Cactos' Battery Energy Storage Platform ingests continuous telemetry from every BESS unit and feeds it into a central optimizer calculating optimal charge/discharge actions on 15-minute market intervals. TimescaleDB serves as the single source of truth powering customer-facing dashboards, real-time fleet optimization, and TSO/DSO regulatory reporting. No caching layer — all reads go directly against TimescaleDB.</a:t>
            </a:r>
          </a:p>
        </p:txBody>
      </p:sp>
      <p:sp>
        <p:nvSpPr>
          <p:cNvPr id="5" name="TextBox 4"/>
          <p:cNvSpPr txBox="1"/>
          <p:nvPr/>
        </p:nvSpPr>
        <p:spPr>
          <a:xfrm>
            <a:off x="3246120" y="868680"/>
            <a:ext cx="2560320" cy="274320"/>
          </a:xfrm>
          <a:prstGeom prst="rect">
            <a:avLst/>
          </a:prstGeom>
          <a:noFill/>
        </p:spPr>
        <p:txBody>
          <a:bodyPr wrap="square">
            <a:spAutoFit/>
          </a:bodyPr>
          <a:lstStyle/>
          <a:p>
            <a:pPr algn="l">
              <a:defRPr sz="1100" b="1">
                <a:solidFill>
                  <a:srgbClr val="FFAB40"/>
                </a:solidFill>
                <a:latin typeface="Arial"/>
              </a:defRPr>
            </a:pPr>
            <a:r>
              <a:t>Challenges:</a:t>
            </a:r>
          </a:p>
        </p:txBody>
      </p:sp>
      <p:sp>
        <p:nvSpPr>
          <p:cNvPr id="6" name="TextBox 5"/>
          <p:cNvSpPr txBox="1"/>
          <p:nvPr/>
        </p:nvSpPr>
        <p:spPr>
          <a:xfrm>
            <a:off x="3246120" y="1188720"/>
            <a:ext cx="2560320" cy="2286000"/>
          </a:xfrm>
          <a:prstGeom prst="rect">
            <a:avLst/>
          </a:prstGeom>
          <a:noFill/>
        </p:spPr>
        <p:txBody>
          <a:bodyPr wrap="square">
            <a:spAutoFit/>
          </a:bodyPr>
          <a:lstStyle/>
          <a:p>
            <a:pPr algn="l">
              <a:defRPr sz="800" b="0">
                <a:solidFill>
                  <a:srgbClr val="BBBBBB"/>
                </a:solidFill>
                <a:latin typeface="Arial"/>
              </a:defRPr>
            </a:pPr>
            <a:r>
              <a:t>Previously relied on Amazon RDS for PostgreSQL to store 15TB across 35 partitioned tables. RDS costs escalated to $9,000/month with all data in expensive hot storage — no compression, no tiering, no continuous aggregates. Evaluated InfluxDB, Prometheus, and ClickHouse but rejected all: insufficient rigor for energy markets (Influx/Prometheus) or split architecture complexity (ClickHouse).</a:t>
            </a:r>
          </a:p>
        </p:txBody>
      </p:sp>
      <p:sp>
        <p:nvSpPr>
          <p:cNvPr id="7" name="TextBox 6"/>
          <p:cNvSpPr txBox="1"/>
          <p:nvPr/>
        </p:nvSpPr>
        <p:spPr>
          <a:xfrm>
            <a:off x="6035040" y="868680"/>
            <a:ext cx="2560320" cy="274320"/>
          </a:xfrm>
          <a:prstGeom prst="rect">
            <a:avLst/>
          </a:prstGeom>
          <a:noFill/>
        </p:spPr>
        <p:txBody>
          <a:bodyPr wrap="square">
            <a:spAutoFit/>
          </a:bodyPr>
          <a:lstStyle/>
          <a:p>
            <a:pPr algn="l">
              <a:defRPr sz="1100" b="1">
                <a:solidFill>
                  <a:srgbClr val="4CAF50"/>
                </a:solidFill>
                <a:latin typeface="Arial"/>
              </a:defRPr>
            </a:pPr>
            <a:r>
              <a:t>Outcomes:</a:t>
            </a:r>
          </a:p>
        </p:txBody>
      </p:sp>
      <p:sp>
        <p:nvSpPr>
          <p:cNvPr id="8" name="TextBox 7"/>
          <p:cNvSpPr txBox="1"/>
          <p:nvPr/>
        </p:nvSpPr>
        <p:spPr>
          <a:xfrm>
            <a:off x="6035040" y="1188720"/>
            <a:ext cx="2560320" cy="2286000"/>
          </a:xfrm>
          <a:prstGeom prst="rect">
            <a:avLst/>
          </a:prstGeom>
          <a:noFill/>
        </p:spPr>
        <p:txBody>
          <a:bodyPr wrap="square">
            <a:spAutoFit/>
          </a:bodyPr>
          <a:lstStyle/>
          <a:p>
            <a:pPr algn="l">
              <a:defRPr sz="800" b="0">
                <a:solidFill>
                  <a:srgbClr val="BBBBBB"/>
                </a:solidFill>
                <a:latin typeface="Arial"/>
              </a:defRPr>
            </a:pPr>
            <a:r>
              <a:t>92% compression (15TB → 1TB). Monthly costs cut from $9,000 to $4,000 — 55% reduction. Now includes HA replication, CAGGs, S3 tiering, and dev/test environment. Historical queries from S3 tiered storage are faster than previous RDS hot storage. Migration: 1 month, minimal downtime, no architectural changes.</a:t>
            </a:r>
          </a:p>
        </p:txBody>
      </p:sp>
      <p:sp>
        <p:nvSpPr>
          <p:cNvPr id="9" name="TextBox 8"/>
          <p:cNvSpPr txBox="1"/>
          <p:nvPr/>
        </p:nvSpPr>
        <p:spPr>
          <a:xfrm>
            <a:off x="457200" y="3657600"/>
            <a:ext cx="8229600" cy="1097280"/>
          </a:xfrm>
          <a:prstGeom prst="rect">
            <a:avLst/>
          </a:prstGeom>
          <a:noFill/>
        </p:spPr>
        <p:txBody>
          <a:bodyPr wrap="square">
            <a:spAutoFit/>
          </a:bodyPr>
          <a:lstStyle/>
          <a:p>
            <a:pPr algn="l">
              <a:defRPr sz="800" b="0">
                <a:solidFill>
                  <a:srgbClr val="888888"/>
                </a:solidFill>
                <a:latin typeface="Arial"/>
              </a:defRPr>
            </a:pPr>
            <a:r>
              <a:t>Cactos is a European BESS manufacturer and operator providing intelligent energy buffers for agriculture, EV charging, and grid-scale applications. Their optimizer operates on 15-minute market intervals. Fleet doubles annually. Expanding into EV charging and grid-scale solar/wind storage.</a:t>
            </a:r>
          </a:p>
        </p:txBody>
      </p:sp>
      <p:sp>
        <p:nvSpPr>
          <p:cNvPr id="10" name="TextBox 9"/>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457200" y="182880"/>
            <a:ext cx="8229600" cy="640080"/>
          </a:xfrm>
          <a:prstGeom prst="rect">
            <a:avLst/>
          </a:prstGeom>
          <a:noFill/>
        </p:spPr>
        <p:txBody>
          <a:bodyPr wrap="square">
            <a:spAutoFit/>
          </a:bodyPr>
          <a:lstStyle/>
          <a:p>
            <a:pPr algn="l">
              <a:defRPr sz="1400" b="1">
                <a:solidFill>
                  <a:srgbClr val="FFFFFF"/>
                </a:solidFill>
                <a:latin typeface="Arial"/>
              </a:defRPr>
            </a:pPr>
            <a:r>
              <a:t>FlexGen standardizes hybrid energy storage data across edge and cloud with TimescaleDB</a:t>
            </a:r>
          </a:p>
        </p:txBody>
      </p:sp>
      <p:sp>
        <p:nvSpPr>
          <p:cNvPr id="3" name="TextBox 2"/>
          <p:cNvSpPr txBox="1"/>
          <p:nvPr/>
        </p:nvSpPr>
        <p:spPr>
          <a:xfrm>
            <a:off x="457200" y="868680"/>
            <a:ext cx="2560320" cy="274320"/>
          </a:xfrm>
          <a:prstGeom prst="rect">
            <a:avLst/>
          </a:prstGeom>
          <a:noFill/>
        </p:spPr>
        <p:txBody>
          <a:bodyPr wrap="square">
            <a:spAutoFit/>
          </a:bodyPr>
          <a:lstStyle/>
          <a:p>
            <a:pPr algn="l">
              <a:defRPr sz="1100" b="1">
                <a:solidFill>
                  <a:srgbClr val="4285F4"/>
                </a:solidFill>
                <a:latin typeface="Arial"/>
              </a:defRPr>
            </a:pPr>
            <a:r>
              <a:t>Application:</a:t>
            </a:r>
          </a:p>
        </p:txBody>
      </p:sp>
      <p:sp>
        <p:nvSpPr>
          <p:cNvPr id="4" name="TextBox 3"/>
          <p:cNvSpPr txBox="1"/>
          <p:nvPr/>
        </p:nvSpPr>
        <p:spPr>
          <a:xfrm>
            <a:off x="457200" y="1188720"/>
            <a:ext cx="2560320" cy="2286000"/>
          </a:xfrm>
          <a:prstGeom prst="rect">
            <a:avLst/>
          </a:prstGeom>
          <a:noFill/>
        </p:spPr>
        <p:txBody>
          <a:bodyPr wrap="square">
            <a:spAutoFit/>
          </a:bodyPr>
          <a:lstStyle/>
          <a:p>
            <a:pPr algn="l">
              <a:defRPr sz="800" b="0">
                <a:solidFill>
                  <a:srgbClr val="BBBBBB"/>
                </a:solidFill>
                <a:latin typeface="Arial"/>
              </a:defRPr>
            </a:pPr>
            <a:r>
              <a:t>FlexGen's HybridOS Data Platform collects and analyzes time-series telemetry from every connected battery system. Data stored on local edge servers (31 days active + 1 year archived parquet) then synchronized to cloud. TimescaleDB enables a unified SQL schema across edge and cloud environments.</a:t>
            </a:r>
          </a:p>
        </p:txBody>
      </p:sp>
      <p:sp>
        <p:nvSpPr>
          <p:cNvPr id="5" name="TextBox 4"/>
          <p:cNvSpPr txBox="1"/>
          <p:nvPr/>
        </p:nvSpPr>
        <p:spPr>
          <a:xfrm>
            <a:off x="3246120" y="868680"/>
            <a:ext cx="2560320" cy="274320"/>
          </a:xfrm>
          <a:prstGeom prst="rect">
            <a:avLst/>
          </a:prstGeom>
          <a:noFill/>
        </p:spPr>
        <p:txBody>
          <a:bodyPr wrap="square">
            <a:spAutoFit/>
          </a:bodyPr>
          <a:lstStyle/>
          <a:p>
            <a:pPr algn="l">
              <a:defRPr sz="1100" b="1">
                <a:solidFill>
                  <a:srgbClr val="FFAB40"/>
                </a:solidFill>
                <a:latin typeface="Arial"/>
              </a:defRPr>
            </a:pPr>
            <a:r>
              <a:t>Challenges:</a:t>
            </a:r>
          </a:p>
        </p:txBody>
      </p:sp>
      <p:sp>
        <p:nvSpPr>
          <p:cNvPr id="6" name="TextBox 5"/>
          <p:cNvSpPr txBox="1"/>
          <p:nvPr/>
        </p:nvSpPr>
        <p:spPr>
          <a:xfrm>
            <a:off x="3246120" y="1188720"/>
            <a:ext cx="2560320" cy="2286000"/>
          </a:xfrm>
          <a:prstGeom prst="rect">
            <a:avLst/>
          </a:prstGeom>
          <a:noFill/>
        </p:spPr>
        <p:txBody>
          <a:bodyPr wrap="square">
            <a:spAutoFit/>
          </a:bodyPr>
          <a:lstStyle/>
          <a:p>
            <a:pPr algn="l">
              <a:defRPr sz="800" b="0">
                <a:solidFill>
                  <a:srgbClr val="BBBBBB"/>
                </a:solidFill>
                <a:latin typeface="Arial"/>
              </a:defRPr>
            </a:pPr>
            <a:r>
              <a:t>Previously relied on InfluxDB and custom Aurora/Postgres implementations by AWS consultants. Required handwritten SQL for aggregations and compression. Data scientists couldn't use standard SQL. Scaling across thousands of edge deployments created schema drift, inconsistent performance, and costly duplication.</a:t>
            </a:r>
          </a:p>
        </p:txBody>
      </p:sp>
      <p:sp>
        <p:nvSpPr>
          <p:cNvPr id="7" name="TextBox 6"/>
          <p:cNvSpPr txBox="1"/>
          <p:nvPr/>
        </p:nvSpPr>
        <p:spPr>
          <a:xfrm>
            <a:off x="6035040" y="868680"/>
            <a:ext cx="2560320" cy="274320"/>
          </a:xfrm>
          <a:prstGeom prst="rect">
            <a:avLst/>
          </a:prstGeom>
          <a:noFill/>
        </p:spPr>
        <p:txBody>
          <a:bodyPr wrap="square">
            <a:spAutoFit/>
          </a:bodyPr>
          <a:lstStyle/>
          <a:p>
            <a:pPr algn="l">
              <a:defRPr sz="1100" b="1">
                <a:solidFill>
                  <a:srgbClr val="4CAF50"/>
                </a:solidFill>
                <a:latin typeface="Arial"/>
              </a:defRPr>
            </a:pPr>
            <a:r>
              <a:t>Outcomes:</a:t>
            </a:r>
          </a:p>
        </p:txBody>
      </p:sp>
      <p:sp>
        <p:nvSpPr>
          <p:cNvPr id="8" name="TextBox 7"/>
          <p:cNvSpPr txBox="1"/>
          <p:nvPr/>
        </p:nvSpPr>
        <p:spPr>
          <a:xfrm>
            <a:off x="6035040" y="1188720"/>
            <a:ext cx="2560320" cy="2286000"/>
          </a:xfrm>
          <a:prstGeom prst="rect">
            <a:avLst/>
          </a:prstGeom>
          <a:noFill/>
        </p:spPr>
        <p:txBody>
          <a:bodyPr wrap="square">
            <a:spAutoFit/>
          </a:bodyPr>
          <a:lstStyle/>
          <a:p>
            <a:pPr algn="l">
              <a:defRPr sz="800" b="0">
                <a:solidFill>
                  <a:srgbClr val="BBBBBB"/>
                </a:solidFill>
                <a:latin typeface="Arial"/>
              </a:defRPr>
            </a:pPr>
            <a:r>
              <a:t>Standardized data model across all deployments without custom scripts. Automatic partitioning, compression, and continuous aggregates manage high-frequency telemetry efficiently. Reduced database maintenance overhead. Data scientists gained native SQL access. Scalable cloud-first architecture for SaaS transition.</a:t>
            </a:r>
          </a:p>
        </p:txBody>
      </p:sp>
      <p:sp>
        <p:nvSpPr>
          <p:cNvPr id="9" name="TextBox 8"/>
          <p:cNvSpPr txBox="1"/>
          <p:nvPr/>
        </p:nvSpPr>
        <p:spPr>
          <a:xfrm>
            <a:off x="457200" y="3657600"/>
            <a:ext cx="8229600" cy="1097280"/>
          </a:xfrm>
          <a:prstGeom prst="rect">
            <a:avLst/>
          </a:prstGeom>
          <a:noFill/>
        </p:spPr>
        <p:txBody>
          <a:bodyPr wrap="square">
            <a:spAutoFit/>
          </a:bodyPr>
          <a:lstStyle/>
          <a:p>
            <a:pPr algn="l">
              <a:defRPr sz="800" b="0">
                <a:solidFill>
                  <a:srgbClr val="888888"/>
                </a:solidFill>
                <a:latin typeface="Arial"/>
              </a:defRPr>
            </a:pPr>
            <a:r>
              <a:t>FlexGen is a U.S.-based energy technology company providing software and integration for BESS and hybrid power projects. 40+ enterprise customers scaling toward 150 deployments by 2026, each with up to 200 on-site servers capturing telemetry every 10–200 milliseconds. Terabytes of time-series data per month.</a:t>
            </a:r>
          </a:p>
        </p:txBody>
      </p:sp>
      <p:sp>
        <p:nvSpPr>
          <p:cNvPr id="10" name="TextBox 9"/>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1645920"/>
            <a:ext cx="7680960" cy="548640"/>
          </a:xfrm>
          <a:prstGeom prst="rect">
            <a:avLst/>
          </a:prstGeom>
          <a:noFill/>
        </p:spPr>
        <p:txBody>
          <a:bodyPr wrap="square">
            <a:spAutoFit/>
          </a:bodyPr>
          <a:lstStyle/>
          <a:p>
            <a:pPr algn="l">
              <a:defRPr sz="4000" b="1">
                <a:solidFill>
                  <a:srgbClr val="4285F4"/>
                </a:solidFill>
                <a:latin typeface="Arial"/>
              </a:defRPr>
            </a:pPr>
            <a:r>
              <a:t>7.</a:t>
            </a:r>
          </a:p>
        </p:txBody>
      </p:sp>
      <p:sp>
        <p:nvSpPr>
          <p:cNvPr id="3" name="TextBox 2"/>
          <p:cNvSpPr txBox="1"/>
          <p:nvPr/>
        </p:nvSpPr>
        <p:spPr>
          <a:xfrm>
            <a:off x="731520" y="2286000"/>
            <a:ext cx="7680960" cy="914400"/>
          </a:xfrm>
          <a:prstGeom prst="rect">
            <a:avLst/>
          </a:prstGeom>
          <a:noFill/>
        </p:spPr>
        <p:txBody>
          <a:bodyPr wrap="square">
            <a:spAutoFit/>
          </a:bodyPr>
          <a:lstStyle/>
          <a:p>
            <a:pPr algn="l">
              <a:defRPr sz="2800" b="1">
                <a:solidFill>
                  <a:srgbClr val="FFFFFF"/>
                </a:solidFill>
                <a:latin typeface="Arial"/>
              </a:defRPr>
            </a:pPr>
            <a:r>
              <a:t>Next Steps</a:t>
            </a:r>
          </a:p>
        </p:txBody>
      </p:sp>
      <p:sp>
        <p:nvSpPr>
          <p:cNvPr id="4" name="TextBox 3"/>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731520" y="365760"/>
            <a:ext cx="7680960" cy="548640"/>
          </a:xfrm>
          <a:prstGeom prst="rect">
            <a:avLst/>
          </a:prstGeom>
          <a:noFill/>
        </p:spPr>
        <p:txBody>
          <a:bodyPr wrap="square">
            <a:spAutoFit/>
          </a:bodyPr>
          <a:lstStyle/>
          <a:p>
            <a:pPr algn="l">
              <a:defRPr sz="2200" b="1">
                <a:solidFill>
                  <a:srgbClr val="FFFFFF"/>
                </a:solidFill>
                <a:latin typeface="Arial"/>
              </a:defRPr>
            </a:pPr>
            <a:r>
              <a:t>Tiger Data EMEA Team</a:t>
            </a:r>
          </a:p>
        </p:txBody>
      </p:sp>
      <p:sp>
        <p:nvSpPr>
          <p:cNvPr id="3" name="TextBox 2"/>
          <p:cNvSpPr txBox="1"/>
          <p:nvPr/>
        </p:nvSpPr>
        <p:spPr>
          <a:xfrm>
            <a:off x="731520" y="1097280"/>
            <a:ext cx="7680960" cy="3474720"/>
          </a:xfrm>
          <a:prstGeom prst="rect">
            <a:avLst/>
          </a:prstGeom>
          <a:noFill/>
        </p:spPr>
        <p:txBody>
          <a:bodyPr wrap="square">
            <a:spAutoFit/>
          </a:bodyPr>
          <a:lstStyle/>
          <a:p>
            <a:pPr algn="l">
              <a:defRPr sz="1400" b="0">
                <a:solidFill>
                  <a:srgbClr val="BBBBBB"/>
                </a:solidFill>
                <a:latin typeface="Arial"/>
              </a:defRPr>
            </a:pPr>
          </a:p>
          <a:p>
            <a:pPr algn="l">
              <a:spcBef>
                <a:spcPts val="1200"/>
              </a:spcBef>
              <a:defRPr sz="1400" b="1">
                <a:solidFill>
                  <a:srgbClr val="FFFFFF"/>
                </a:solidFill>
                <a:latin typeface="Arial"/>
              </a:defRPr>
            </a:pPr>
            <a:r>
              <a:t>Executive Sponsorship</a:t>
            </a:r>
          </a:p>
          <a:p>
            <a:pPr algn="l">
              <a:spcBef>
                <a:spcPts val="400"/>
              </a:spcBef>
              <a:defRPr sz="1200" b="0">
                <a:solidFill>
                  <a:srgbClr val="888888"/>
                </a:solidFill>
                <a:latin typeface="Arial"/>
              </a:defRPr>
            </a:pPr>
            <a:r>
              <a:t>    Ruhan Jay Bora • Head of EMEA</a:t>
            </a:r>
          </a:p>
          <a:p>
            <a:pPr algn="l">
              <a:spcBef>
                <a:spcPts val="1200"/>
              </a:spcBef>
              <a:defRPr sz="1400" b="1">
                <a:solidFill>
                  <a:srgbClr val="FFFFFF"/>
                </a:solidFill>
                <a:latin typeface="Arial"/>
              </a:defRPr>
            </a:pPr>
            <a:r>
              <a:t>Technical</a:t>
            </a:r>
          </a:p>
          <a:p>
            <a:pPr algn="l">
              <a:spcBef>
                <a:spcPts val="400"/>
              </a:spcBef>
              <a:defRPr sz="1200" b="0">
                <a:solidFill>
                  <a:srgbClr val="888888"/>
                </a:solidFill>
                <a:latin typeface="Arial"/>
              </a:defRPr>
            </a:pPr>
            <a:r>
              <a:t>    Suleman Khan • Principal Architect, EMEA</a:t>
            </a:r>
          </a:p>
          <a:p>
            <a:pPr algn="l">
              <a:spcBef>
                <a:spcPts val="400"/>
              </a:spcBef>
              <a:defRPr sz="1200" b="0">
                <a:solidFill>
                  <a:srgbClr val="888888"/>
                </a:solidFill>
                <a:latin typeface="Arial"/>
              </a:defRPr>
            </a:pPr>
            <a:r>
              <a:t>    Andrew Redden • Implementation Engineer</a:t>
            </a:r>
          </a:p>
          <a:p>
            <a:pPr algn="l">
              <a:spcBef>
                <a:spcPts val="1200"/>
              </a:spcBef>
              <a:defRPr sz="1400" b="1">
                <a:solidFill>
                  <a:srgbClr val="FFFFFF"/>
                </a:solidFill>
                <a:latin typeface="Arial"/>
              </a:defRPr>
            </a:pPr>
            <a:r>
              <a:t>Support</a:t>
            </a:r>
          </a:p>
          <a:p>
            <a:pPr algn="l">
              <a:spcBef>
                <a:spcPts val="400"/>
              </a:spcBef>
              <a:defRPr sz="1200" b="0">
                <a:solidFill>
                  <a:srgbClr val="888888"/>
                </a:solidFill>
                <a:latin typeface="Arial"/>
              </a:defRPr>
            </a:pPr>
            <a:r>
              <a:t>    Irina Machado • Head of Technical Support EMEA</a:t>
            </a:r>
          </a:p>
          <a:p>
            <a:pPr algn="l">
              <a:spcBef>
                <a:spcPts val="1200"/>
              </a:spcBef>
              <a:defRPr sz="1400" b="1">
                <a:solidFill>
                  <a:srgbClr val="FFFFFF"/>
                </a:solidFill>
                <a:latin typeface="Arial"/>
              </a:defRPr>
            </a:pPr>
            <a:r>
              <a:t>Leadership</a:t>
            </a:r>
          </a:p>
          <a:p>
            <a:pPr algn="l">
              <a:spcBef>
                <a:spcPts val="400"/>
              </a:spcBef>
              <a:defRPr sz="1200" b="0">
                <a:solidFill>
                  <a:srgbClr val="888888"/>
                </a:solidFill>
                <a:latin typeface="Arial"/>
              </a:defRPr>
            </a:pPr>
            <a:r>
              <a:t>    Brendan Siebecker • Director of Cloud Alliances</a:t>
            </a:r>
          </a:p>
          <a:p>
            <a:pPr algn="l">
              <a:spcBef>
                <a:spcPts val="400"/>
              </a:spcBef>
              <a:defRPr sz="1200" b="0">
                <a:solidFill>
                  <a:srgbClr val="888888"/>
                </a:solidFill>
                <a:latin typeface="Arial"/>
              </a:defRPr>
            </a:pPr>
            <a:r>
              <a:t>    Ramon Guiu • VP of Product</a:t>
            </a:r>
          </a:p>
          <a:p>
            <a:pPr algn="l">
              <a:spcBef>
                <a:spcPts val="400"/>
              </a:spcBef>
              <a:defRPr sz="1200" b="0">
                <a:solidFill>
                  <a:srgbClr val="888888"/>
                </a:solidFill>
                <a:latin typeface="Arial"/>
              </a:defRPr>
            </a:pPr>
            <a:r>
              <a:t>    Jose Sahad • VP of Engineering</a:t>
            </a:r>
          </a:p>
          <a:p>
            <a:pPr algn="l">
              <a:spcBef>
                <a:spcPts val="400"/>
              </a:spcBef>
              <a:defRPr sz="1200" b="0">
                <a:solidFill>
                  <a:srgbClr val="888888"/>
                </a:solidFill>
                <a:latin typeface="Arial"/>
              </a:defRPr>
            </a:pPr>
            <a:r>
              <a:t>    Adam Navrozally • VP of Sales</a:t>
            </a:r>
          </a:p>
        </p:txBody>
      </p:sp>
      <p:sp>
        <p:nvSpPr>
          <p:cNvPr id="4" name="TextBox 3"/>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12121"/>
        </a:solidFill>
        <a:effectLst/>
      </p:bgPr>
    </p:bg>
    <p:spTree>
      <p:nvGrpSpPr>
        <p:cNvPr id="1" name=""/>
        <p:cNvGrpSpPr/>
        <p:nvPr/>
      </p:nvGrpSpPr>
      <p:grpSpPr/>
      <p:sp>
        <p:nvSpPr>
          <p:cNvPr id="2" name="TextBox 1"/>
          <p:cNvSpPr txBox="1"/>
          <p:nvPr/>
        </p:nvSpPr>
        <p:spPr>
          <a:xfrm>
            <a:off x="731520" y="365760"/>
            <a:ext cx="7680960" cy="548640"/>
          </a:xfrm>
          <a:prstGeom prst="rect">
            <a:avLst/>
          </a:prstGeom>
          <a:noFill/>
        </p:spPr>
        <p:txBody>
          <a:bodyPr wrap="square">
            <a:spAutoFit/>
          </a:bodyPr>
          <a:lstStyle/>
          <a:p>
            <a:pPr algn="l">
              <a:defRPr sz="2200" b="1">
                <a:solidFill>
                  <a:srgbClr val="FFFFFF"/>
                </a:solidFill>
                <a:latin typeface="Arial"/>
              </a:defRPr>
            </a:pPr>
            <a:r>
              <a:t>Evaluation Process</a:t>
            </a:r>
          </a:p>
        </p:txBody>
      </p:sp>
      <p:sp>
        <p:nvSpPr>
          <p:cNvPr id="3" name="TextBox 2"/>
          <p:cNvSpPr txBox="1"/>
          <p:nvPr/>
        </p:nvSpPr>
        <p:spPr>
          <a:xfrm>
            <a:off x="731520" y="1097280"/>
            <a:ext cx="7680960" cy="3474720"/>
          </a:xfrm>
          <a:prstGeom prst="rect">
            <a:avLst/>
          </a:prstGeom>
          <a:noFill/>
        </p:spPr>
        <p:txBody>
          <a:bodyPr wrap="square">
            <a:spAutoFit/>
          </a:bodyPr>
          <a:lstStyle/>
          <a:p>
            <a:pPr algn="l">
              <a:defRPr sz="1400" b="0">
                <a:solidFill>
                  <a:srgbClr val="BBBBBB"/>
                </a:solidFill>
                <a:latin typeface="Arial"/>
              </a:defRPr>
            </a:pPr>
          </a:p>
          <a:p>
            <a:pPr algn="l">
              <a:spcBef>
                <a:spcPts val="1200"/>
              </a:spcBef>
              <a:defRPr sz="1400" b="1">
                <a:solidFill>
                  <a:srgbClr val="FFFFFF"/>
                </a:solidFill>
                <a:latin typeface="Arial"/>
              </a:defRPr>
            </a:pPr>
            <a:r>
              <a:t>1. Discovery</a:t>
            </a:r>
          </a:p>
          <a:p>
            <a:pPr algn="l">
              <a:spcBef>
                <a:spcPts val="400"/>
              </a:spcBef>
              <a:defRPr sz="1200" b="0">
                <a:solidFill>
                  <a:srgbClr val="888888"/>
                </a:solidFill>
                <a:latin typeface="Arial"/>
              </a:defRPr>
            </a:pPr>
            <a:r>
              <a:t>    Alignment meeting • Technical workshop (90m) • Business case + costs</a:t>
            </a:r>
          </a:p>
          <a:p>
            <a:pPr algn="l">
              <a:spcBef>
                <a:spcPts val="400"/>
              </a:spcBef>
              <a:defRPr sz="1200" b="0">
                <a:solidFill>
                  <a:srgbClr val="888888"/>
                </a:solidFill>
                <a:latin typeface="Arial"/>
              </a:defRPr>
            </a:pPr>
            <a:r>
              <a:t>    Is there a mutual fit? Does this solve our challenges?</a:t>
            </a:r>
          </a:p>
          <a:p>
            <a:pPr algn="l">
              <a:spcBef>
                <a:spcPts val="1200"/>
              </a:spcBef>
              <a:defRPr sz="1400" b="1">
                <a:solidFill>
                  <a:srgbClr val="FFFFFF"/>
                </a:solidFill>
                <a:latin typeface="Arial"/>
              </a:defRPr>
            </a:pPr>
            <a:r>
              <a:t>2. Technical Validation</a:t>
            </a:r>
          </a:p>
          <a:p>
            <a:pPr algn="l">
              <a:spcBef>
                <a:spcPts val="400"/>
              </a:spcBef>
              <a:defRPr sz="1200" b="0">
                <a:solidFill>
                  <a:srgbClr val="888888"/>
                </a:solidFill>
                <a:latin typeface="Arial"/>
              </a:defRPr>
            </a:pPr>
            <a:r>
              <a:t>    1-month paid PoC • Best practices enablement • On-call support team</a:t>
            </a:r>
          </a:p>
          <a:p>
            <a:pPr algn="l">
              <a:spcBef>
                <a:spcPts val="400"/>
              </a:spcBef>
              <a:defRPr sz="1200" b="0">
                <a:solidFill>
                  <a:srgbClr val="888888"/>
                </a:solidFill>
                <a:latin typeface="Arial"/>
              </a:defRPr>
            </a:pPr>
            <a:r>
              <a:t>    Dedicated solution architect • Access to reports</a:t>
            </a:r>
          </a:p>
          <a:p>
            <a:pPr algn="l">
              <a:spcBef>
                <a:spcPts val="1200"/>
              </a:spcBef>
              <a:defRPr sz="1400" b="1">
                <a:solidFill>
                  <a:srgbClr val="FFFFFF"/>
                </a:solidFill>
                <a:latin typeface="Arial"/>
              </a:defRPr>
            </a:pPr>
            <a:r>
              <a:t>3. Customer Success</a:t>
            </a:r>
          </a:p>
          <a:p>
            <a:pPr algn="l">
              <a:spcBef>
                <a:spcPts val="400"/>
              </a:spcBef>
              <a:defRPr sz="1200" b="0">
                <a:solidFill>
                  <a:srgbClr val="888888"/>
                </a:solidFill>
                <a:latin typeface="Arial"/>
              </a:defRPr>
            </a:pPr>
            <a:r>
              <a:t>    Facilitated onboarding • Paid consultancy available • Free technical support</a:t>
            </a:r>
          </a:p>
          <a:p>
            <a:pPr algn="l">
              <a:spcBef>
                <a:spcPts val="400"/>
              </a:spcBef>
              <a:defRPr sz="1200" b="0">
                <a:solidFill>
                  <a:srgbClr val="888888"/>
                </a:solidFill>
                <a:latin typeface="Arial"/>
              </a:defRPr>
            </a:pPr>
            <a:r>
              <a:t>    Implementation and migration planning</a:t>
            </a:r>
          </a:p>
        </p:txBody>
      </p:sp>
      <p:sp>
        <p:nvSpPr>
          <p:cNvPr id="4" name="TextBox 3"/>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371600"/>
            <a:ext cx="7315200" cy="1828800"/>
          </a:xfrm>
          <a:prstGeom prst="rect">
            <a:avLst/>
          </a:prstGeom>
          <a:noFill/>
        </p:spPr>
        <p:txBody>
          <a:bodyPr wrap="square">
            <a:spAutoFit/>
          </a:bodyPr>
          <a:lstStyle/>
          <a:p>
            <a:pPr algn="ctr">
              <a:defRPr sz="2400" b="1">
                <a:solidFill>
                  <a:srgbClr val="FFFFFF"/>
                </a:solidFill>
                <a:latin typeface="Arial"/>
              </a:defRPr>
            </a:pPr>
            <a:r>
              <a:t>BESS platforms are real-time decision systems</a:t>
            </a:r>
            <a:br/>
            <a:r>
              <a:t>built on time-series data —</a:t>
            </a:r>
            <a:br/>
            <a:r>
              <a:t>and Timescale is designed to power exactly that.</a:t>
            </a:r>
          </a:p>
        </p:txBody>
      </p:sp>
      <p:sp>
        <p:nvSpPr>
          <p:cNvPr id="3" name="TextBox 2"/>
          <p:cNvSpPr txBox="1"/>
          <p:nvPr/>
        </p:nvSpPr>
        <p:spPr>
          <a:xfrm>
            <a:off x="8503920" y="4754880"/>
            <a:ext cx="457200" cy="274320"/>
          </a:xfrm>
          <a:prstGeom prst="rect">
            <a:avLst/>
          </a:prstGeom>
          <a:noFill/>
        </p:spPr>
        <p:txBody>
          <a:bodyPr wrap="square">
            <a:spAutoFit/>
          </a:bodyPr>
          <a:lstStyle/>
          <a:p>
            <a:pPr algn="r">
              <a:defRPr sz="800" b="0">
                <a:solidFill>
                  <a:srgbClr val="888888"/>
                </a:solidFill>
                <a:latin typeface="Arial"/>
              </a:defRPr>
            </a:pPr>
            <a:r>
              <a:t>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