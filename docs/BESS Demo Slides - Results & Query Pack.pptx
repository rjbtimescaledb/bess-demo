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0E0E0"/>
                </a:solidFill>
              </a:defRPr>
            </a:pPr>
            <a:r>
              <a:t>Demo Results</a:t>
            </a:r>
          </a:p>
          <a:p>
            <a:pPr>
              <a:defRPr sz="1200">
                <a:solidFill>
                  <a:srgbClr val="888888"/>
                </a:solidFill>
              </a:defRPr>
            </a:pPr>
            <a:r>
              <a:t>Live benchmark: Tiger Cloud with 6.6B rows, concurrent ingest + 12 dashboard users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64592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Total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3F7"/>
                </a:solidFill>
              </a:defRPr>
            </a:pPr>
            <a:r>
              <a:t>6.6B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097280"/>
            <a:ext cx="164592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170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Ingest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44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BB6A"/>
                </a:solidFill>
              </a:defRPr>
            </a:pPr>
            <a:r>
              <a:t>2,500/sec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097280"/>
            <a:ext cx="164592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39" y="1170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Concurrent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39" y="1444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A69A"/>
                </a:solidFill>
              </a:defRPr>
            </a:pPr>
            <a: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199" y="1097280"/>
            <a:ext cx="164592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170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444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</a:defRPr>
            </a:pPr>
            <a: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097280"/>
            <a:ext cx="164592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170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444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E0E0"/>
                </a:solidFill>
              </a:defRPr>
            </a:pPr>
            <a:r>
              <a:t>200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1097280"/>
            <a:ext cx="1645920" cy="8229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170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Fleet 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1444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4D"/>
                </a:solidFill>
              </a:defRPr>
            </a:pPr>
            <a:r>
              <a:t>2,080 MW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194560"/>
            <a:ext cx="6858000" cy="4114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286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7"/>
                </a:solidFill>
              </a:defRPr>
            </a:pPr>
            <a:r>
              <a:t>Core Query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651760"/>
            <a:ext cx="6400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</a:p>
          <a:p>
            <a:r>
              <a:rPr sz="1100" b="1">
                <a:solidFill>
                  <a:srgbClr val="888888"/>
                </a:solidFill>
              </a:rPr>
              <a:t>Query                           </a:t>
            </a:r>
            <a:r>
              <a:rPr sz="1100" b="1">
                <a:solidFill>
                  <a:srgbClr val="888888"/>
                </a:solidFill>
              </a:rPr>
              <a:t>Category          </a:t>
            </a:r>
            <a:r>
              <a:rPr sz="1100" b="1">
                <a:solidFill>
                  <a:srgbClr val="888888"/>
                </a:solidFill>
              </a:rPr>
              <a:t>Latency   </a:t>
            </a:r>
            <a:r>
              <a:rPr sz="1100" b="1">
                <a:solidFill>
                  <a:srgbClr val="888888"/>
                </a:solidFill>
              </a:rPr>
              <a:t>Feature</a:t>
            </a:r>
          </a:p>
          <a:p>
            <a:r>
              <a:rPr sz="1100" b="0">
                <a:solidFill>
                  <a:srgbClr val="888888"/>
                </a:solidFill>
              </a:rPr>
              <a:t>──────────────────────────────  </a:t>
            </a:r>
            <a:r>
              <a:rPr sz="1100" b="0">
                <a:solidFill>
                  <a:srgbClr val="888888"/>
                </a:solidFill>
              </a:rPr>
              <a:t>────────────────  </a:t>
            </a:r>
            <a:r>
              <a:rPr sz="1100" b="0">
                <a:solidFill>
                  <a:srgbClr val="888888"/>
                </a:solidFill>
              </a:rPr>
              <a:t>────────  </a:t>
            </a:r>
            <a:r>
              <a:rPr sz="1100" b="0">
                <a:solidFill>
                  <a:srgbClr val="888888"/>
                </a:solidFill>
              </a:rPr>
              <a:t>───────────────────────</a:t>
            </a:r>
          </a:p>
          <a:p>
            <a:r>
              <a:rPr sz="1100" b="0">
                <a:solidFill>
                  <a:srgbClr val="E0E0E0"/>
                </a:solidFill>
              </a:rPr>
              <a:t>Q1A  Latest Fleet State         </a:t>
            </a:r>
            <a:r>
              <a:rPr sz="1100" b="0">
                <a:solidFill>
                  <a:srgbClr val="888888"/>
                </a:solidFill>
              </a:rPr>
              <a:t>Operational       </a:t>
            </a:r>
            <a:r>
              <a:rPr sz="1100" b="0">
                <a:solidFill>
                  <a:srgbClr val="66BB6A"/>
                </a:solidFill>
              </a:rPr>
              <a:t>~50ms     </a:t>
            </a:r>
            <a:r>
              <a:rPr sz="1100" b="0">
                <a:solidFill>
                  <a:srgbClr val="B388FF"/>
                </a:solidFill>
              </a:rPr>
              <a:t>1-min CAGG</a:t>
            </a:r>
          </a:p>
          <a:p>
            <a:r>
              <a:rPr sz="1100" b="0">
                <a:solidFill>
                  <a:srgbClr val="E0E0E0"/>
                </a:solidFill>
              </a:rPr>
              <a:t>Q1B  Active Alarms              </a:t>
            </a:r>
            <a:r>
              <a:rPr sz="1100" b="0">
                <a:solidFill>
                  <a:srgbClr val="888888"/>
                </a:solidFill>
              </a:rPr>
              <a:t>Operational       </a:t>
            </a:r>
            <a:r>
              <a:rPr sz="1100" b="0">
                <a:solidFill>
                  <a:srgbClr val="66BB6A"/>
                </a:solidFill>
              </a:rPr>
              <a:t>~50ms     </a:t>
            </a:r>
            <a:r>
              <a:rPr sz="1100" b="0">
                <a:solidFill>
                  <a:srgbClr val="B388FF"/>
                </a:solidFill>
              </a:rPr>
              <a:t>Partial index</a:t>
            </a:r>
          </a:p>
          <a:p>
            <a:r>
              <a:rPr sz="1100" b="0">
                <a:solidFill>
                  <a:srgbClr val="E0E0E0"/>
                </a:solidFill>
              </a:rPr>
              <a:t>Q2A  Power Trend (24h)          </a:t>
            </a:r>
            <a:r>
              <a:rPr sz="1100" b="0">
                <a:solidFill>
                  <a:srgbClr val="888888"/>
                </a:solidFill>
              </a:rPr>
              <a:t>Historical        </a:t>
            </a:r>
            <a:r>
              <a:rPr sz="1100" b="0">
                <a:solidFill>
                  <a:srgbClr val="4FC3F7"/>
                </a:solidFill>
              </a:rPr>
              <a:t>~100ms    </a:t>
            </a:r>
            <a:r>
              <a:rPr sz="1100" b="0">
                <a:solidFill>
                  <a:srgbClr val="B388FF"/>
                </a:solidFill>
              </a:rPr>
              <a:t>15-min CAGG</a:t>
            </a:r>
          </a:p>
          <a:p>
            <a:r>
              <a:rPr sz="1100" b="0">
                <a:solidFill>
                  <a:srgbClr val="E0E0E0"/>
                </a:solidFill>
              </a:rPr>
              <a:t>Q2B  Asset Health Degradation   </a:t>
            </a:r>
            <a:r>
              <a:rPr sz="1100" b="0">
                <a:solidFill>
                  <a:srgbClr val="888888"/>
                </a:solidFill>
              </a:rPr>
              <a:t>Historical        </a:t>
            </a:r>
            <a:r>
              <a:rPr sz="1100" b="0">
                <a:solidFill>
                  <a:srgbClr val="66BB6A"/>
                </a:solidFill>
              </a:rPr>
              <a:t>~150ms    </a:t>
            </a:r>
            <a:r>
              <a:rPr sz="1100" b="0">
                <a:solidFill>
                  <a:srgbClr val="B388FF"/>
                </a:solidFill>
              </a:rPr>
              <a:t>1-hour CAGG</a:t>
            </a:r>
          </a:p>
          <a:p>
            <a:r>
              <a:rPr sz="1100" b="0">
                <a:solidFill>
                  <a:srgbClr val="E0E0E0"/>
                </a:solidFill>
              </a:rPr>
              <a:t>Q3A  Multi-Resolution           </a:t>
            </a:r>
            <a:r>
              <a:rPr sz="1100" b="0">
                <a:solidFill>
                  <a:srgbClr val="888888"/>
                </a:solidFill>
              </a:rPr>
              <a:t>Dashboard         </a:t>
            </a:r>
            <a:r>
              <a:rPr sz="1100" b="0">
                <a:solidFill>
                  <a:srgbClr val="66BB6A"/>
                </a:solidFill>
              </a:rPr>
              <a:t>~50ms     </a:t>
            </a:r>
            <a:r>
              <a:rPr sz="1100" b="0">
                <a:solidFill>
                  <a:srgbClr val="B388FF"/>
                </a:solidFill>
              </a:rPr>
              <a:t>Auto tier</a:t>
            </a:r>
          </a:p>
          <a:p>
            <a:r>
              <a:rPr sz="1100" b="0">
                <a:solidFill>
                  <a:srgbClr val="E0E0E0"/>
                </a:solidFill>
              </a:rPr>
              <a:t>Q3B  Fleet Utilization          </a:t>
            </a:r>
            <a:r>
              <a:rPr sz="1100" b="0">
                <a:solidFill>
                  <a:srgbClr val="888888"/>
                </a:solidFill>
              </a:rPr>
              <a:t>Dashboard         </a:t>
            </a:r>
            <a:r>
              <a:rPr sz="1100" b="0">
                <a:solidFill>
                  <a:srgbClr val="66BB6A"/>
                </a:solidFill>
              </a:rPr>
              <a:t>~150ms    </a:t>
            </a:r>
            <a:r>
              <a:rPr sz="1100" b="0">
                <a:solidFill>
                  <a:srgbClr val="B388FF"/>
                </a:solidFill>
              </a:rPr>
              <a:t>15-min CAGG</a:t>
            </a:r>
          </a:p>
          <a:p>
            <a:r>
              <a:rPr sz="1100" b="0">
                <a:solidFill>
                  <a:srgbClr val="E0E0E0"/>
                </a:solidFill>
              </a:rPr>
              <a:t>Q4A  Dispatch Readiness         </a:t>
            </a:r>
            <a:r>
              <a:rPr sz="1100" b="0">
                <a:solidFill>
                  <a:srgbClr val="888888"/>
                </a:solidFill>
              </a:rPr>
              <a:t>Decisioning       </a:t>
            </a:r>
            <a:r>
              <a:rPr sz="1100" b="0">
                <a:solidFill>
                  <a:srgbClr val="4FC3F7"/>
                </a:solidFill>
              </a:rPr>
              <a:t>~100ms    </a:t>
            </a:r>
            <a:r>
              <a:rPr sz="1100" b="0">
                <a:solidFill>
                  <a:srgbClr val="B388FF"/>
                </a:solidFill>
              </a:rPr>
              <a:t>CAGG + alarms</a:t>
            </a:r>
          </a:p>
          <a:p>
            <a:r>
              <a:rPr sz="1100" b="0">
                <a:solidFill>
                  <a:srgbClr val="E0E0E0"/>
                </a:solidFill>
              </a:rPr>
              <a:t>Q4B  Revenue Opportunity        </a:t>
            </a:r>
            <a:r>
              <a:rPr sz="1100" b="0">
                <a:solidFill>
                  <a:srgbClr val="888888"/>
                </a:solidFill>
              </a:rPr>
              <a:t>Decisioning       </a:t>
            </a:r>
            <a:r>
              <a:rPr sz="1100" b="0">
                <a:solidFill>
                  <a:srgbClr val="4FC3F7"/>
                </a:solidFill>
              </a:rPr>
              <a:t>~100ms    </a:t>
            </a:r>
            <a:r>
              <a:rPr sz="1100" b="0">
                <a:solidFill>
                  <a:srgbClr val="B388FF"/>
                </a:solidFill>
              </a:rPr>
              <a:t>CAGG + market</a:t>
            </a:r>
          </a:p>
          <a:p>
            <a:r>
              <a:rPr sz="1100" b="0">
                <a:solidFill>
                  <a:srgbClr val="E0E0E0"/>
                </a:solidFill>
              </a:rPr>
              <a:t>Q5A  Missed Revenue (7d)        </a:t>
            </a:r>
            <a:r>
              <a:rPr sz="1100" b="0">
                <a:solidFill>
                  <a:srgbClr val="888888"/>
                </a:solidFill>
              </a:rPr>
              <a:t>Revenue           </a:t>
            </a:r>
            <a:r>
              <a:rPr sz="1100" b="0">
                <a:solidFill>
                  <a:srgbClr val="FFB74D"/>
                </a:solidFill>
              </a:rPr>
              <a:t>~400ms    </a:t>
            </a:r>
            <a:r>
              <a:rPr sz="1100" b="0">
                <a:solidFill>
                  <a:srgbClr val="B388FF"/>
                </a:solidFill>
              </a:rPr>
              <a:t>1-hour CAGG</a:t>
            </a:r>
          </a:p>
          <a:p>
            <a:r>
              <a:rPr sz="1100" b="0">
                <a:solidFill>
                  <a:srgbClr val="E0E0E0"/>
                </a:solidFill>
              </a:rPr>
              <a:t>Q5B  Platform Proof             </a:t>
            </a:r>
            <a:r>
              <a:rPr sz="1100" b="0">
                <a:solidFill>
                  <a:srgbClr val="888888"/>
                </a:solidFill>
              </a:rPr>
              <a:t>Platform          </a:t>
            </a:r>
            <a:r>
              <a:rPr sz="1100" b="0">
                <a:solidFill>
                  <a:srgbClr val="66BB6A"/>
                </a:solidFill>
              </a:rPr>
              <a:t>~50ms     </a:t>
            </a:r>
            <a:r>
              <a:rPr sz="1100" b="0">
                <a:solidFill>
                  <a:srgbClr val="B388FF"/>
                </a:solidFill>
              </a:rPr>
              <a:t>Metadata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2194560"/>
            <a:ext cx="39319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</a:defRPr>
            </a:pPr>
            <a:r>
              <a:t>Columnstore Compression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6974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segmentby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697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</a:defRPr>
            </a:pPr>
            <a:r>
              <a:t>site_id, asset_id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9535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orderby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953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</a:defRPr>
            </a:pPr>
            <a:r>
              <a:t>ts DESC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20954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Encoding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20954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</a:defRPr>
            </a:pPr>
            <a:r>
              <a:t>Delta + Gorilla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46557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Target Ratio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4655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</a:defRPr>
            </a:pPr>
            <a:r>
              <a:t>90%+ compression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7216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Compress After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7216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</a:defRPr>
            </a:pPr>
            <a:r>
              <a:t>1 day (hourly check)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39776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S3 Tiering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977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</a:defRPr>
            </a:pPr>
            <a:r>
              <a:t>After 3 months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297680"/>
            <a:ext cx="3931920" cy="2011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43891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A5F5"/>
                </a:solidFill>
              </a:defRPr>
            </a:pPr>
            <a:r>
              <a:t>Data Lifecycle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7548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5350"/>
                </a:solidFill>
              </a:defRPr>
            </a:pPr>
            <a:r>
              <a:t>Rowstore (hot)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495604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Last 1 day — fast inserts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5166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B74D"/>
                </a:solidFill>
              </a:defRPr>
            </a:pPr>
            <a:r>
              <a:t>Columnstore (warm)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53675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1 day → 3 months — compressed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5577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A5F5"/>
                </a:solidFill>
              </a:defRPr>
            </a:pPr>
            <a:r>
              <a:t>S3 Tiered (cold)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577900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3 months+ — object storage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5989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88"/>
                </a:solidFill>
              </a:defRPr>
            </a:pPr>
            <a:r>
              <a:t>Retention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619048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</a:defRPr>
            </a:pPr>
            <a:r>
              <a:t>Auto-drop after 6 months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0E0E0"/>
                </a:solidFill>
              </a:defRPr>
            </a:pPr>
            <a:r>
              <a:t>Tiger Cloud vs AWS RDS PostgreSQL</a:t>
            </a:r>
          </a:p>
          <a:p>
            <a:pPr>
              <a:defRPr sz="1200">
                <a:solidFill>
                  <a:srgbClr val="888888"/>
                </a:solidFill>
              </a:defRPr>
            </a:pPr>
            <a:r>
              <a:t>Same spec (4 vCPU / 16 GiB), same region (eu-central-1), same data — only the database differs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85800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C3F7"/>
                </a:solidFill>
              </a:defRPr>
            </a:pPr>
            <a:r>
              <a:t>Query Pack Benchmark (Query Pack v1)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</a:p>
          <a:p>
            <a:r>
              <a:rPr sz="1100" b="1">
                <a:solidFill>
                  <a:srgbClr val="888888"/>
                </a:solidFill>
              </a:rPr>
              <a:t>Query                         </a:t>
            </a:r>
            <a:r>
              <a:rPr sz="1100" b="1">
                <a:solidFill>
                  <a:srgbClr val="888888"/>
                </a:solidFill>
              </a:rPr>
              <a:t>Tiger Cloud   </a:t>
            </a:r>
            <a:r>
              <a:rPr sz="1100" b="1">
                <a:solidFill>
                  <a:srgbClr val="888888"/>
                </a:solidFill>
              </a:rPr>
              <a:t>RDS           </a:t>
            </a:r>
            <a:r>
              <a:rPr sz="1100" b="1">
                <a:solidFill>
                  <a:srgbClr val="888888"/>
                </a:solidFill>
              </a:rPr>
              <a:t>Winner</a:t>
            </a:r>
          </a:p>
          <a:p>
            <a:r>
              <a:rPr sz="1100" b="0">
                <a:solidFill>
                  <a:srgbClr val="888888"/>
                </a:solidFill>
              </a:rPr>
              <a:t>────────────────────────────  </a:t>
            </a:r>
            <a:r>
              <a:rPr sz="1100" b="0">
                <a:solidFill>
                  <a:srgbClr val="888888"/>
                </a:solidFill>
              </a:rPr>
              <a:t>────────────  </a:t>
            </a:r>
            <a:r>
              <a:rPr sz="1100" b="0">
                <a:solidFill>
                  <a:srgbClr val="888888"/>
                </a:solidFill>
              </a:rPr>
              <a:t>────────────  </a:t>
            </a:r>
            <a:r>
              <a:rPr sz="1100" b="0">
                <a:solidFill>
                  <a:srgbClr val="888888"/>
                </a:solidFill>
              </a:rPr>
              <a:t>──────────────────</a:t>
            </a:r>
          </a:p>
          <a:p>
            <a:r>
              <a:rPr sz="1100" b="0">
                <a:solidFill>
                  <a:srgbClr val="E0E0E0"/>
                </a:solidFill>
              </a:rPr>
              <a:t>Q1  Latest Fleet State        </a:t>
            </a:r>
            <a:r>
              <a:rPr sz="1100" b="0">
                <a:solidFill>
                  <a:srgbClr val="66BB6A"/>
                </a:solidFill>
              </a:rPr>
              <a:t>340ms         </a:t>
            </a:r>
            <a:r>
              <a:rPr sz="1100" b="0">
                <a:solidFill>
                  <a:srgbClr val="EF5350"/>
                </a:solidFill>
              </a:rPr>
              <a:t>9,639ms       </a:t>
            </a:r>
            <a:r>
              <a:rPr sz="1100" b="0">
                <a:solidFill>
                  <a:srgbClr val="66BB6A"/>
                </a:solidFill>
              </a:rPr>
              <a:t>Tiger 28x faster</a:t>
            </a:r>
          </a:p>
          <a:p>
            <a:r>
              <a:rPr sz="1100" b="0">
                <a:solidFill>
                  <a:srgbClr val="E0E0E0"/>
                </a:solidFill>
              </a:rPr>
              <a:t>Q7  Dispatch Readiness        </a:t>
            </a:r>
            <a:r>
              <a:rPr sz="1100" b="0">
                <a:solidFill>
                  <a:srgbClr val="66BB6A"/>
                </a:solidFill>
              </a:rPr>
              <a:t>241ms         </a:t>
            </a:r>
            <a:r>
              <a:rPr sz="1100" b="0">
                <a:solidFill>
                  <a:srgbClr val="EF5350"/>
                </a:solidFill>
              </a:rPr>
              <a:t>7,330ms       </a:t>
            </a:r>
            <a:r>
              <a:rPr sz="1100" b="0">
                <a:solidFill>
                  <a:srgbClr val="66BB6A"/>
                </a:solidFill>
              </a:rPr>
              <a:t>Tiger 30x faster</a:t>
            </a:r>
          </a:p>
          <a:p>
            <a:r>
              <a:rPr sz="1100" b="0">
                <a:solidFill>
                  <a:srgbClr val="E0E0E0"/>
                </a:solidFill>
              </a:rPr>
              <a:t>Q8  Revenue Opportunity       </a:t>
            </a:r>
            <a:r>
              <a:rPr sz="1100" b="0">
                <a:solidFill>
                  <a:srgbClr val="66BB6A"/>
                </a:solidFill>
              </a:rPr>
              <a:t>356ms         </a:t>
            </a:r>
            <a:r>
              <a:rPr sz="1100" b="0">
                <a:solidFill>
                  <a:srgbClr val="EF5350"/>
                </a:solidFill>
              </a:rPr>
              <a:t>7,202ms       </a:t>
            </a:r>
            <a:r>
              <a:rPr sz="1100" b="0">
                <a:solidFill>
                  <a:srgbClr val="66BB6A"/>
                </a:solidFill>
              </a:rPr>
              <a:t>Tiger 20x faster</a:t>
            </a:r>
          </a:p>
          <a:p>
            <a:r>
              <a:rPr sz="1100" b="0">
                <a:solidFill>
                  <a:srgbClr val="E0E0E0"/>
                </a:solidFill>
              </a:rPr>
              <a:t>Q13 Raw Aggregation (1h)      </a:t>
            </a:r>
            <a:r>
              <a:rPr sz="1100" b="0">
                <a:solidFill>
                  <a:srgbClr val="66BB6A"/>
                </a:solidFill>
              </a:rPr>
              <a:t>1,509ms       </a:t>
            </a:r>
            <a:r>
              <a:rPr sz="1100" b="0">
                <a:solidFill>
                  <a:srgbClr val="EF5350"/>
                </a:solidFill>
              </a:rPr>
              <a:t>44ms          </a:t>
            </a:r>
            <a:r>
              <a:rPr sz="1100" b="0">
                <a:solidFill>
                  <a:srgbClr val="888888"/>
                </a:solidFill>
              </a:rPr>
              <a:t>RDS (fewer rows)*</a:t>
            </a:r>
          </a:p>
          <a:p>
            <a:r>
              <a:rPr sz="1100" b="0">
                <a:solidFill>
                  <a:srgbClr val="E0E0E0"/>
                </a:solidFill>
              </a:rPr>
              <a:t>Q14 CAGG Aggregation          </a:t>
            </a:r>
            <a:r>
              <a:rPr sz="1100" b="0">
                <a:solidFill>
                  <a:srgbClr val="66BB6A"/>
                </a:solidFill>
              </a:rPr>
              <a:t>52ms          </a:t>
            </a:r>
            <a:r>
              <a:rPr sz="1100" b="0">
                <a:solidFill>
                  <a:srgbClr val="EF5350"/>
                </a:solidFill>
              </a:rPr>
              <a:t>44ms          </a:t>
            </a:r>
            <a:r>
              <a:rPr sz="1100" b="0">
                <a:solidFill>
                  <a:srgbClr val="888888"/>
                </a:solidFill>
              </a:rPr>
              <a:t>~equal</a:t>
            </a:r>
          </a:p>
          <a:p>
            <a:r>
              <a:rPr sz="1100" b="0">
                <a:solidFill>
                  <a:srgbClr val="CCCCCC"/>
                </a:solidFill>
              </a:rPr>
              <a:t>                              </a:t>
            </a:r>
            <a:r>
              <a:rPr sz="1100" b="0">
                <a:solidFill>
                  <a:srgbClr val="CCCCCC"/>
                </a:solidFill>
              </a:rPr>
              <a:t>              </a:t>
            </a:r>
            <a:r>
              <a:rPr sz="1100" b="0">
                <a:solidFill>
                  <a:srgbClr val="CCCCCC"/>
                </a:solidFill>
              </a:rPr>
              <a:t>              </a:t>
            </a:r>
            <a:r>
              <a:rPr sz="1100" b="0">
                <a:solidFill>
                  <a:srgbClr val="CCCCCC"/>
                </a:solidFill>
              </a:rPr>
              <a:t/>
            </a:r>
          </a:p>
          <a:p>
            <a:r>
              <a:rPr sz="1100" b="0">
                <a:solidFill>
                  <a:srgbClr val="888888"/>
                </a:solidFill>
              </a:rPr>
              <a:t>* RDS has 186M rows vs Tiger's 6.6B                                           </a:t>
            </a:r>
            <a:r>
              <a:rPr sz="1100" b="0">
                <a:solidFill>
                  <a:srgbClr val="CCCCCC"/>
                </a:solidFill>
              </a:rPr>
              <a:t/>
            </a:r>
            <a:r>
              <a:rPr sz="1100" b="0">
                <a:solidFill>
                  <a:srgbClr val="CCCCCC"/>
                </a:solidFill>
              </a:rPr>
              <a:t/>
            </a:r>
            <a:r>
              <a:rPr sz="1100" b="0">
                <a:solidFill>
                  <a:srgbClr val="CCCCCC"/>
                </a:solidFill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188720"/>
            <a:ext cx="393192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280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</a:defRPr>
            </a:pPr>
            <a:r>
              <a:t>Storage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Tiger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691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BB6A"/>
                </a:solidFill>
              </a:defRPr>
            </a:pPr>
            <a:r>
              <a:t>Columnstore compressed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011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RDS (186M rows)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011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5350"/>
                </a:solidFill>
              </a:defRPr>
            </a:pPr>
            <a:r>
              <a:t>22 GB uncompressed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RDS (3yr @ 3K/sec)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5350"/>
                </a:solidFill>
              </a:defRPr>
            </a:pPr>
            <a:r>
              <a:t>38 TB projected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108960"/>
            <a:ext cx="3931920" cy="128016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3200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4D"/>
                </a:solidFill>
              </a:defRPr>
            </a:pPr>
            <a:r>
              <a:t>3-Year TCO @ 3K rows/sec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566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RDS Single-AZ (RI 3yr)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3566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5350"/>
                </a:solidFill>
              </a:defRPr>
            </a:pPr>
            <a:r>
              <a:t>$147,646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840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RDS Multi-AZ (RI 3yr)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3840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5350"/>
                </a:solidFill>
              </a:defRPr>
            </a:pPr>
            <a:r>
              <a:t>$261,062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114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Storage = 67% of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41148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5350"/>
                </a:solidFill>
              </a:defRPr>
            </a:pPr>
            <a:r>
              <a:t>No compression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112471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5350"/>
                </a:solidFill>
              </a:defRPr>
            </a:pPr>
            <a:r>
              <a:t>What RDS is Missing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5350"/>
                </a:solidFill>
              </a:defRPr>
            </a:pPr>
            <a:r>
              <a:t>✗  Hypertables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1206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Automatic time partitioning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5350"/>
                </a:solidFill>
              </a:defRPr>
            </a:pPr>
            <a:r>
              <a:t>✗  Continuous Aggregates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5778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Pre-computed rollups (1min → 15min → 1hour)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350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5350"/>
                </a:solidFill>
              </a:defRPr>
            </a:pPr>
            <a:r>
              <a:t>✗  Columnstore Compression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60350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90%+ storage savings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1206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5350"/>
                </a:solidFill>
              </a:defRPr>
            </a:pPr>
            <a:r>
              <a:t>✗  S3 Tiering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51206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Automatic cold data archival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5778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5350"/>
                </a:solidFill>
              </a:defRPr>
            </a:pPr>
            <a:r>
              <a:t>✗  time_bucket()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5778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Native time-series aggregation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60350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5350"/>
                </a:solidFill>
              </a:defRPr>
            </a:pPr>
            <a:r>
              <a:t>✗  Retention Policies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60350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</a:defRPr>
            </a:pPr>
            <a:r>
              <a:t>Automated data lifecycle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BB6A"/>
                </a:solidFill>
              </a:defRPr>
            </a:pPr>
            <a:r>
              <a:t>OPERATIONAL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</a:defRPr>
            </a:pPr>
            <a:r>
              <a:t>Q1A — Latest Fleet 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103120" cy="64008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BB6A"/>
                </a:solidFill>
              </a:defRPr>
            </a:pPr>
            <a:r>
              <a:t>~50ms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C3F7"/>
                </a:solidFill>
              </a:defRPr>
            </a:pPr>
            <a:r>
              <a:t>BESS Operator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What is happening across my fleet right now?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74D"/>
                </a:solidFill>
              </a:defRPr>
            </a:pPr>
            <a:r>
              <a:t>Do I need to intervene?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Business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</a:defRPr>
            </a:pPr>
            <a:r>
              <a:t>Real-time visibility, faster incident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TimescaleDB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2860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8FF"/>
                </a:solidFill>
              </a:defRPr>
            </a:pPr>
            <a:r>
              <a:t>1-min Continuous Aggregate, DISTINCT 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51760"/>
            <a:ext cx="11247120" cy="3840480"/>
          </a:xfrm>
          <a:prstGeom prst="round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A69A"/>
                </a:solidFill>
                <a:latin typeface="Consolas"/>
              </a:defRPr>
            </a:pPr>
            <a:r>
              <a:rPr>
                <a:latin typeface="Consolas"/>
              </a:rPr>
              <a:t>SELECT DISTINCT ON (s.site_id)</a:t>
            </a:r>
            <a:br/>
            <a:r>
              <a:rPr>
                <a:latin typeface="Consolas"/>
              </a:rPr>
              <a:t>  s.site_id, s.name AS site_name,</a:t>
            </a:r>
            <a:br/>
            <a:r>
              <a:rPr>
                <a:latin typeface="Consolas"/>
              </a:rPr>
              <a:t>  t.bucket AS latest_time,</a:t>
            </a:r>
            <a:br/>
            <a:r>
              <a:rPr>
                <a:latin typeface="Consolas"/>
              </a:rPr>
              <a:t>  t.avg_site_power_mw,</a:t>
            </a:r>
            <a:br/>
            <a:r>
              <a:rPr>
                <a:latin typeface="Consolas"/>
              </a:rPr>
              <a:t>  t.avg_soc_pct AS soc_pct,</a:t>
            </a:r>
            <a:br/>
            <a:r>
              <a:rPr>
                <a:latin typeface="Consolas"/>
              </a:rPr>
              <a:t>  t.avg_soh_pct AS soh_pct</a:t>
            </a:r>
            <a:br/>
            <a:r>
              <a:rPr>
                <a:latin typeface="Consolas"/>
              </a:rPr>
              <a:t>FROM sites s</a:t>
            </a:r>
            <a:br/>
            <a:r>
              <a:rPr>
                <a:latin typeface="Consolas"/>
              </a:rPr>
              <a:t>JOIN telemetry_1min t ON t.site_id = s.site_id</a:t>
            </a:r>
            <a:br/>
            <a:r>
              <a:rPr>
                <a:latin typeface="Consolas"/>
              </a:rPr>
              <a:t>WHERE t.bucket &gt; NOW() - INTERVAL '10 minutes'</a:t>
            </a:r>
            <a:br/>
            <a:r>
              <a:rPr>
                <a:latin typeface="Consolas"/>
              </a:rPr>
              <a:t>ORDER BY s.site_id, t.bucket DESC;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BB6A"/>
                </a:solidFill>
              </a:defRPr>
            </a:pPr>
            <a:r>
              <a:t>OPERATIONAL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</a:defRPr>
            </a:pPr>
            <a:r>
              <a:t>Q1B — Active Alarms by 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103120" cy="64008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BB6A"/>
                </a:solidFill>
              </a:defRPr>
            </a:pPr>
            <a:r>
              <a:t>~50ms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C3F7"/>
                </a:solidFill>
              </a:defRPr>
            </a:pPr>
            <a:r>
              <a:t>Reliability Engineer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What is broken right now and where?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74D"/>
                </a:solidFill>
              </a:defRPr>
            </a:pPr>
            <a:r>
              <a:t>Which site needs immediate attention?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Business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</a:defRPr>
            </a:pPr>
            <a:r>
              <a:t>Reduced MTTR, prioritized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TimescaleDB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2860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8FF"/>
                </a:solidFill>
              </a:defRPr>
            </a:pPr>
            <a:r>
              <a:t>Partial index on unresolved alarms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51760"/>
            <a:ext cx="11247120" cy="3840480"/>
          </a:xfrm>
          <a:prstGeom prst="round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A69A"/>
                </a:solidFill>
                <a:latin typeface="Consolas"/>
              </a:defRPr>
            </a:pPr>
            <a:r>
              <a:rPr>
                <a:latin typeface="Consolas"/>
              </a:rPr>
              <a:t>SELECT s.name, a.severity, COUNT(*),</a:t>
            </a:r>
            <a:br/>
            <a:r>
              <a:rPr>
                <a:latin typeface="Consolas"/>
              </a:rPr>
              <a:t>  MIN(a.ts) AS oldest_unresolved</a:t>
            </a:r>
            <a:br/>
            <a:r>
              <a:rPr>
                <a:latin typeface="Consolas"/>
              </a:rPr>
              <a:t>FROM alarms_events a</a:t>
            </a:r>
            <a:br/>
            <a:r>
              <a:rPr>
                <a:latin typeface="Consolas"/>
              </a:rPr>
              <a:t>JOIN sites s ON s.site_id = a.site_id</a:t>
            </a:r>
            <a:br/>
            <a:r>
              <a:rPr>
                <a:latin typeface="Consolas"/>
              </a:rPr>
              <a:t>WHERE a.resolved_at IS NULL</a:t>
            </a:r>
            <a:br/>
            <a:r>
              <a:rPr>
                <a:latin typeface="Consolas"/>
              </a:rPr>
              <a:t>GROUP BY s.name, a.severity</a:t>
            </a:r>
            <a:br/>
            <a:r>
              <a:rPr>
                <a:latin typeface="Consolas"/>
              </a:rPr>
              <a:t>ORDER BY CASE severity</a:t>
            </a:r>
            <a:br/>
            <a:r>
              <a:rPr>
                <a:latin typeface="Consolas"/>
              </a:rPr>
              <a:t>  WHEN 'emergency' THEN 1</a:t>
            </a:r>
            <a:br/>
            <a:r>
              <a:rPr>
                <a:latin typeface="Consolas"/>
              </a:rPr>
              <a:t>  WHEN 'critical' THEN 2</a:t>
            </a:r>
            <a:br/>
            <a:r>
              <a:rPr>
                <a:latin typeface="Consolas"/>
              </a:rPr>
              <a:t>  WHEN 'warning' THEN 3 ELSE 4</a:t>
            </a:r>
            <a:br/>
            <a:r>
              <a:rPr>
                <a:latin typeface="Consolas"/>
              </a:rPr>
              <a:t>END, count(*) DESC;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2A5F5"/>
                </a:solidFill>
              </a:defRPr>
            </a:pPr>
            <a:r>
              <a:t>HISTORICAL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</a:defRPr>
            </a:pPr>
            <a:r>
              <a:t>Q2A — Power Trend (24h, per-site)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103120" cy="64008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BB6A"/>
                </a:solidFill>
              </a:defRPr>
            </a:pPr>
            <a:r>
              <a:t>~100ms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C3F7"/>
                </a:solidFill>
              </a:defRPr>
            </a:pPr>
            <a:r>
              <a:t>Operations Analyst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How has this site's power output changed over 24 hours?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74D"/>
                </a:solidFill>
              </a:defRPr>
            </a:pPr>
            <a:r>
              <a:t>Is behavior normal or anomalous?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Business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</a:defRPr>
            </a:pPr>
            <a:r>
              <a:t>Early anomaly detection, operational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TimescaleDB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2860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8FF"/>
                </a:solidFill>
              </a:defRPr>
            </a:pPr>
            <a:r>
              <a:t>15-min Continuous Aggregate (pre-computed)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51760"/>
            <a:ext cx="11247120" cy="3840480"/>
          </a:xfrm>
          <a:prstGeom prst="round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A69A"/>
                </a:solidFill>
                <a:latin typeface="Consolas"/>
              </a:defRPr>
            </a:pPr>
            <a:r>
              <a:rPr>
                <a:latin typeface="Consolas"/>
              </a:rPr>
              <a:t>SELECT bucket AS time,</a:t>
            </a:r>
            <a:br/>
            <a:r>
              <a:rPr>
                <a:latin typeface="Consolas"/>
              </a:rPr>
              <a:t>  avg_site_power_mw AS power_mw,</a:t>
            </a:r>
            <a:br/>
            <a:r>
              <a:rPr>
                <a:latin typeface="Consolas"/>
              </a:rPr>
              <a:t>  avg_soc_pct AS soc_pct,</a:t>
            </a:r>
            <a:br/>
            <a:r>
              <a:rPr>
                <a:latin typeface="Consolas"/>
              </a:rPr>
              <a:t>  avg_discharge_power_mw AS discharge_mw</a:t>
            </a:r>
            <a:br/>
            <a:r>
              <a:rPr>
                <a:latin typeface="Consolas"/>
              </a:rPr>
              <a:t>FROM telemetry_15min</a:t>
            </a:r>
            <a:br/>
            <a:r>
              <a:rPr>
                <a:latin typeface="Consolas"/>
              </a:rPr>
              <a:t>WHERE site_id = $1</a:t>
            </a:r>
            <a:br/>
            <a:r>
              <a:rPr>
                <a:latin typeface="Consolas"/>
              </a:rPr>
              <a:t>  AND bucket &gt;= NOW() - INTERVAL '24 hours'</a:t>
            </a:r>
            <a:br/>
            <a:r>
              <a:rPr>
                <a:latin typeface="Consolas"/>
              </a:rPr>
              <a:t>ORDER BY bucket;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2A5F5"/>
                </a:solidFill>
              </a:defRPr>
            </a:pPr>
            <a:r>
              <a:t>HISTORICAL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</a:defRPr>
            </a:pPr>
            <a:r>
              <a:t>Q2B — Asset Health Degradation (30d)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103120" cy="64008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BB6A"/>
                </a:solidFill>
              </a:defRPr>
            </a:pPr>
            <a:r>
              <a:t>~150ms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C3F7"/>
                </a:solidFill>
              </a:defRPr>
            </a:pPr>
            <a:r>
              <a:t>Asset 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Which sites are degrading fastest?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74D"/>
                </a:solidFill>
              </a:defRPr>
            </a:pPr>
            <a:r>
              <a:t>Schedule preventive maintenance before failure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Business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</a:defRPr>
            </a:pPr>
            <a:r>
              <a:t>Reduced replacement cost, extended asset life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TimescaleDB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2860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8FF"/>
                </a:solidFill>
              </a:defRPr>
            </a:pPr>
            <a:r>
              <a:t>1-hour CAGG, time-windowed weekly comparison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51760"/>
            <a:ext cx="11247120" cy="3840480"/>
          </a:xfrm>
          <a:prstGeom prst="round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A69A"/>
                </a:solidFill>
                <a:latin typeface="Consolas"/>
              </a:defRPr>
            </a:pPr>
            <a:r>
              <a:rPr>
                <a:latin typeface="Consolas"/>
              </a:rPr>
              <a:t>WITH weekly_soh AS (</a:t>
            </a:r>
            <a:br/>
            <a:r>
              <a:rPr>
                <a:latin typeface="Consolas"/>
              </a:rPr>
              <a:t>  SELECT site_id,</a:t>
            </a:r>
            <a:br/>
            <a:r>
              <a:rPr>
                <a:latin typeface="Consolas"/>
              </a:rPr>
              <a:t>    CASE WHEN bucket &gt;= NOW()-'7d' THEN 'now'</a:t>
            </a:r>
            <a:br/>
            <a:r>
              <a:rPr>
                <a:latin typeface="Consolas"/>
              </a:rPr>
              <a:t>         WHEN bucket &gt;= NOW()-'14d' THEN 'last_week'</a:t>
            </a:r>
            <a:br/>
            <a:r>
              <a:rPr>
                <a:latin typeface="Consolas"/>
              </a:rPr>
              <a:t>         WHEN bucket &gt;= NOW()-'30d' THEN 'month_ago'</a:t>
            </a:r>
            <a:br/>
            <a:r>
              <a:rPr>
                <a:latin typeface="Consolas"/>
              </a:rPr>
              <a:t>    END AS period, AVG(avg_soh_pct) AS avg_soh</a:t>
            </a:r>
            <a:br/>
            <a:r>
              <a:rPr>
                <a:latin typeface="Consolas"/>
              </a:rPr>
              <a:t>  FROM telemetry_1hour</a:t>
            </a:r>
            <a:br/>
            <a:r>
              <a:rPr>
                <a:latin typeface="Consolas"/>
              </a:rPr>
              <a:t>  WHERE bucket &gt;= NOW() - INTERVAL '30 days'</a:t>
            </a:r>
            <a:br/>
            <a:r>
              <a:rPr>
                <a:latin typeface="Consolas"/>
              </a:rPr>
              <a:t>  GROUP BY site_id, period</a:t>
            </a:r>
            <a:br/>
            <a:r>
              <a:rPr>
                <a:latin typeface="Consolas"/>
              </a:rPr>
              <a:t>)</a:t>
            </a:r>
            <a:br/>
            <a:r>
              <a:rPr>
                <a:latin typeface="Consolas"/>
              </a:rPr>
              <a:t>SELECT name, soh_now, soh_month_ago,</a:t>
            </a:r>
            <a:br/>
            <a:r>
              <a:rPr>
                <a:latin typeface="Consolas"/>
              </a:rPr>
              <a:t>  degradation_30d, projected_annual,</a:t>
            </a:r>
            <a:br/>
            <a:r>
              <a:rPr>
                <a:latin typeface="Consolas"/>
              </a:rPr>
              <a:t>  CASE WHEN annual &lt; -2 THEN 'CRITICAL'</a:t>
            </a:r>
            <a:br/>
            <a:r>
              <a:rPr>
                <a:latin typeface="Consolas"/>
              </a:rPr>
              <a:t>       WHEN annual &lt; -1 THEN 'WATCH'</a:t>
            </a:r>
            <a:br/>
            <a:r>
              <a:rPr>
                <a:latin typeface="Consolas"/>
              </a:rPr>
              <a:t>       ELSE 'NORMAL' END AS status</a:t>
            </a:r>
            <a:br/>
            <a:r>
              <a:rPr>
                <a:latin typeface="Consolas"/>
              </a:rPr>
              <a:t>FROM pivoted JOIN sites USING(site_id)</a:t>
            </a:r>
            <a:br/>
            <a:r>
              <a:rPr>
                <a:latin typeface="Consolas"/>
              </a:rPr>
              <a:t>ORDER BY degradation_30d ASC;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8FF"/>
                </a:solidFill>
              </a:defRPr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</a:defRPr>
            </a:pPr>
            <a:r>
              <a:t>Q3A — Multi-Resolution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103120" cy="64008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BB6A"/>
                </a:solidFill>
              </a:defRPr>
            </a:pPr>
            <a:r>
              <a:t>~50ms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C3F7"/>
                </a:solidFill>
              </a:defRPr>
            </a:pPr>
            <a:r>
              <a:t>Dashboard End-User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Can I zoom from 30-day overview to 1-minute detail?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74D"/>
                </a:solidFill>
              </a:defRPr>
            </a:pPr>
            <a:r>
              <a:t>Which time resolution to serve based on requested range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Business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</a:defRPr>
            </a:pPr>
            <a:r>
              <a:t>Fast UX regardless of time range (sub-200ms always)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TimescaleDB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2860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8FF"/>
                </a:solidFill>
              </a:defRPr>
            </a:pPr>
            <a:r>
              <a:t>Hierarchical CAGGs: raw → 1min → 15min → 1hour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51760"/>
            <a:ext cx="11247120" cy="3840480"/>
          </a:xfrm>
          <a:prstGeom prst="round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A69A"/>
                </a:solidFill>
                <a:latin typeface="Consolas"/>
              </a:defRPr>
            </a:pPr>
            <a:r>
              <a:rPr>
                <a:latin typeface="Consolas"/>
              </a:rPr>
              <a:t>-- Auto-selected by range:</a:t>
            </a:r>
            <a:br/>
            <a:r>
              <a:rPr>
                <a:latin typeface="Consolas"/>
              </a:rPr>
              <a:t>--   ≤ 1h  → telemetry_raw</a:t>
            </a:r>
            <a:br/>
            <a:r>
              <a:rPr>
                <a:latin typeface="Consolas"/>
              </a:rPr>
              <a:t>--   ≤ 26h → telemetry_1min</a:t>
            </a:r>
            <a:br/>
            <a:r>
              <a:rPr>
                <a:latin typeface="Consolas"/>
              </a:rPr>
              <a:t>--   ≤ 72h → telemetry_15min</a:t>
            </a:r>
            <a:br/>
            <a:r>
              <a:rPr>
                <a:latin typeface="Consolas"/>
              </a:rPr>
              <a:t>--   &gt; 72h → telemetry_1hour</a:t>
            </a:r>
            <a:br/>
            <a:br/>
            <a:r>
              <a:rPr>
                <a:latin typeface="Consolas"/>
              </a:rPr>
              <a:t>SELECT bucket AS time,</a:t>
            </a:r>
            <a:br/>
            <a:r>
              <a:rPr>
                <a:latin typeface="Consolas"/>
              </a:rPr>
              <a:t>  avg_site_power_mw, avg_soc_pct,</a:t>
            </a:r>
            <a:br/>
            <a:r>
              <a:rPr>
                <a:latin typeface="Consolas"/>
              </a:rPr>
              <a:t>  avg_discharge_power_mw</a:t>
            </a:r>
            <a:br/>
            <a:r>
              <a:rPr>
                <a:latin typeface="Consolas"/>
              </a:rPr>
              <a:t>FROM telemetry_15min  -- 7-day view</a:t>
            </a:r>
            <a:br/>
            <a:r>
              <a:rPr>
                <a:latin typeface="Consolas"/>
              </a:rPr>
              <a:t>WHERE site_id = $1</a:t>
            </a:r>
            <a:br/>
            <a:r>
              <a:rPr>
                <a:latin typeface="Consolas"/>
              </a:rPr>
              <a:t>  AND bucket &gt;= NOW() - INTERVAL '7 days'</a:t>
            </a:r>
            <a:br/>
            <a:r>
              <a:rPr>
                <a:latin typeface="Consolas"/>
              </a:rPr>
              <a:t>ORDER BY bucket;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8FF"/>
                </a:solidFill>
              </a:defRPr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</a:defRPr>
            </a:pPr>
            <a:r>
              <a:t>Q3B — Fleet Utilization Ranking (24h)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103120" cy="64008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BB6A"/>
                </a:solidFill>
              </a:defRPr>
            </a:pPr>
            <a:r>
              <a:t>~150ms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C3F7"/>
                </a:solidFill>
              </a:defRPr>
            </a:pPr>
            <a:r>
              <a:t>Operations Lead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Which sites are performing best? Where should I focus?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74D"/>
                </a:solidFill>
              </a:defRPr>
            </a:pPr>
            <a:r>
              <a:t>Allocate resources to underperforming sites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Business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</a:defRPr>
            </a:pPr>
            <a:r>
              <a:t>Fleet-wide efficiency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TimescaleDB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2860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8FF"/>
                </a:solidFill>
              </a:defRPr>
            </a:pPr>
            <a:r>
              <a:t>15-min CAGG, fleet-wide aggregation + ranking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51760"/>
            <a:ext cx="11247120" cy="3840480"/>
          </a:xfrm>
          <a:prstGeom prst="round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A69A"/>
                </a:solidFill>
                <a:latin typeface="Consolas"/>
              </a:defRPr>
            </a:pPr>
            <a:r>
              <a:rPr>
                <a:latin typeface="Consolas"/>
              </a:rPr>
              <a:t>SELECT s.name, s.capacity_mw,</a:t>
            </a:r>
            <a:br/>
            <a:r>
              <a:rPr>
                <a:latin typeface="Consolas"/>
              </a:rPr>
              <a:t>  ROUND(AVG(t.avg_site_power_mw), 1) AS avg_power_mw,</a:t>
            </a:r>
            <a:br/>
            <a:r>
              <a:rPr>
                <a:latin typeface="Consolas"/>
              </a:rPr>
              <a:t>  ROUND(AVG(t.avg_site_power_mw)</a:t>
            </a:r>
            <a:br/>
            <a:r>
              <a:rPr>
                <a:latin typeface="Consolas"/>
              </a:rPr>
              <a:t>    / NULLIF(s.capacity_mw, 0) * 100, 1)</a:t>
            </a:r>
            <a:br/>
            <a:r>
              <a:rPr>
                <a:latin typeface="Consolas"/>
              </a:rPr>
              <a:t>    AS utilization_pct,</a:t>
            </a:r>
            <a:br/>
            <a:r>
              <a:rPr>
                <a:latin typeface="Consolas"/>
              </a:rPr>
              <a:t>  ROUND(AVG(t.avg_soc_pct), 1) AS avg_soc,</a:t>
            </a:r>
            <a:br/>
            <a:r>
              <a:rPr>
                <a:latin typeface="Consolas"/>
              </a:rPr>
              <a:t>  ROUND(AVG(t.avg_rte), 1) AS avg_rte</a:t>
            </a:r>
            <a:br/>
            <a:r>
              <a:rPr>
                <a:latin typeface="Consolas"/>
              </a:rPr>
              <a:t>FROM telemetry_15min t</a:t>
            </a:r>
            <a:br/>
            <a:r>
              <a:rPr>
                <a:latin typeface="Consolas"/>
              </a:rPr>
              <a:t>JOIN sites s ON s.site_id = t.site_id</a:t>
            </a:r>
            <a:br/>
            <a:r>
              <a:rPr>
                <a:latin typeface="Consolas"/>
              </a:rPr>
              <a:t>WHERE bucket &gt;= NOW() - INTERVAL '24 hours'</a:t>
            </a:r>
            <a:br/>
            <a:r>
              <a:rPr>
                <a:latin typeface="Consolas"/>
              </a:rPr>
              <a:t>GROUP BY s.name, s.capacity_mw</a:t>
            </a:r>
            <a:br/>
            <a:r>
              <a:rPr>
                <a:latin typeface="Consolas"/>
              </a:rPr>
              <a:t>ORDER BY utilization_pct DESC;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B74D"/>
                </a:solidFill>
              </a:defRPr>
            </a:pPr>
            <a:r>
              <a:t>DECISIONING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</a:defRPr>
            </a:pPr>
            <a:r>
              <a:t>Q4A — Dispatch Readiness (scored)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103120" cy="64008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BB6A"/>
                </a:solidFill>
              </a:defRPr>
            </a:pPr>
            <a:r>
              <a:t>~100ms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C3F7"/>
                </a:solidFill>
              </a:defRPr>
            </a:pPr>
            <a:r>
              <a:t>Energy Trader / Dispatch Operator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Which sites can I dispatch right now?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74D"/>
                </a:solidFill>
              </a:defRPr>
            </a:pPr>
            <a:r>
              <a:t>Dispatch energy when prices are 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Business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</a:defRPr>
            </a:pPr>
            <a:r>
              <a:t>Avoid dispatching degraded sites, prevent grid penalties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TimescaleDB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2860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8FF"/>
                </a:solidFill>
              </a:defRPr>
            </a:pPr>
            <a:r>
              <a:t>Real-time CAGG + alarms cross-join, readiness scoring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51760"/>
            <a:ext cx="11247120" cy="3840480"/>
          </a:xfrm>
          <a:prstGeom prst="round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A69A"/>
                </a:solidFill>
                <a:latin typeface="Consolas"/>
              </a:defRPr>
            </a:pPr>
            <a:r>
              <a:rPr>
                <a:latin typeface="Consolas"/>
              </a:rPr>
              <a:t>WITH latest AS (</a:t>
            </a:r>
            <a:br/>
            <a:r>
              <a:rPr>
                <a:latin typeface="Consolas"/>
              </a:rPr>
              <a:t>  SELECT DISTINCT ON (site_id)</a:t>
            </a:r>
            <a:br/>
            <a:r>
              <a:rPr>
                <a:latin typeface="Consolas"/>
              </a:rPr>
              <a:t>    site_id, avg_soc_pct AS soc,</a:t>
            </a:r>
            <a:br/>
            <a:r>
              <a:rPr>
                <a:latin typeface="Consolas"/>
              </a:rPr>
              <a:t>    avg_soh_pct AS soh</a:t>
            </a:r>
            <a:br/>
            <a:r>
              <a:rPr>
                <a:latin typeface="Consolas"/>
              </a:rPr>
              <a:t>  FROM telemetry_1min</a:t>
            </a:r>
            <a:br/>
            <a:r>
              <a:rPr>
                <a:latin typeface="Consolas"/>
              </a:rPr>
              <a:t>  WHERE bucket &gt; NOW() - '10 min'</a:t>
            </a:r>
            <a:br/>
            <a:r>
              <a:rPr>
                <a:latin typeface="Consolas"/>
              </a:rPr>
              <a:t>  ORDER BY site_id, bucket DESC</a:t>
            </a:r>
            <a:br/>
            <a:r>
              <a:rPr>
                <a:latin typeface="Consolas"/>
              </a:rPr>
              <a:t>), alarms AS (</a:t>
            </a:r>
            <a:br/>
            <a:r>
              <a:rPr>
                <a:latin typeface="Consolas"/>
              </a:rPr>
              <a:t>  SELECT site_id, COUNT(*) AS cnt</a:t>
            </a:r>
            <a:br/>
            <a:r>
              <a:rPr>
                <a:latin typeface="Consolas"/>
              </a:rPr>
              <a:t>  FROM alarms_events</a:t>
            </a:r>
            <a:br/>
            <a:r>
              <a:rPr>
                <a:latin typeface="Consolas"/>
              </a:rPr>
              <a:t>  WHERE resolved_at IS NULL</a:t>
            </a:r>
            <a:br/>
            <a:r>
              <a:rPr>
                <a:latin typeface="Consolas"/>
              </a:rPr>
              <a:t>    AND severity IN ('critical','emergency')</a:t>
            </a:r>
            <a:br/>
            <a:r>
              <a:rPr>
                <a:latin typeface="Consolas"/>
              </a:rPr>
              <a:t>  GROUP BY site_id</a:t>
            </a:r>
            <a:br/>
            <a:r>
              <a:rPr>
                <a:latin typeface="Consolas"/>
              </a:rPr>
              <a:t>)</a:t>
            </a:r>
            <a:br/>
            <a:r>
              <a:rPr>
                <a:latin typeface="Consolas"/>
              </a:rPr>
              <a:t>SELECT name, soc, soh, critical_alarms,</a:t>
            </a:r>
            <a:br/>
            <a:r>
              <a:rPr>
                <a:latin typeface="Consolas"/>
              </a:rPr>
              <a:t>  available_energy_mwh,</a:t>
            </a:r>
            <a:br/>
            <a:r>
              <a:rPr>
                <a:latin typeface="Consolas"/>
              </a:rPr>
              <a:t>  readiness_score,  -- 0-100</a:t>
            </a:r>
            <a:br/>
            <a:r>
              <a:rPr>
                <a:latin typeface="Consolas"/>
              </a:rPr>
              <a:t>  dispatch_status   -- READY/CAUTION/NOT_READY</a:t>
            </a:r>
            <a:br/>
            <a:r>
              <a:rPr>
                <a:latin typeface="Consolas"/>
              </a:rPr>
              <a:t>FROM sites JOIN latest JOIN alarms</a:t>
            </a:r>
            <a:br/>
            <a:r>
              <a:rPr>
                <a:latin typeface="Consolas"/>
              </a:rPr>
              <a:t>ORDER BY readiness_score DESC;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B74D"/>
                </a:solidFill>
              </a:defRPr>
            </a:pPr>
            <a:r>
              <a:t>DECISIONING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</a:defRPr>
            </a:pPr>
            <a:r>
              <a:t>Q4B — Revenue Opportunity (real-time)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103120" cy="64008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BB6A"/>
                </a:solidFill>
              </a:defRPr>
            </a:pPr>
            <a:r>
              <a:t>~100ms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C3F7"/>
                </a:solidFill>
              </a:defRPr>
            </a:pPr>
            <a:r>
              <a:t>Energy Trader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Where is the money right now?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74D"/>
                </a:solidFill>
              </a:defRPr>
            </a:pPr>
            <a:r>
              <a:t>Maximize revenue by dispatching into high-price markets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Business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</a:defRPr>
            </a:pPr>
            <a:r>
              <a:t>Direct revenue optimization ($000s per decision)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TimescaleDB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2860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8FF"/>
                </a:solidFill>
              </a:defRPr>
            </a:pPr>
            <a:r>
              <a:t>CAGG + market prices cross-join, capacity calculation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51760"/>
            <a:ext cx="11247120" cy="3840480"/>
          </a:xfrm>
          <a:prstGeom prst="round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A69A"/>
                </a:solidFill>
                <a:latin typeface="Consolas"/>
              </a:defRPr>
            </a:pPr>
            <a:r>
              <a:rPr>
                <a:latin typeface="Consolas"/>
              </a:rPr>
              <a:t>WITH latest AS (</a:t>
            </a:r>
            <a:br/>
            <a:r>
              <a:rPr>
                <a:latin typeface="Consolas"/>
              </a:rPr>
              <a:t>  SELECT DISTINCT ON (site_id)</a:t>
            </a:r>
            <a:br/>
            <a:r>
              <a:rPr>
                <a:latin typeface="Consolas"/>
              </a:rPr>
              <a:t>    site_id, avg_soc_pct AS soc,</a:t>
            </a:r>
            <a:br/>
            <a:r>
              <a:rPr>
                <a:latin typeface="Consolas"/>
              </a:rPr>
              <a:t>    avg_site_power_mw AS power</a:t>
            </a:r>
            <a:br/>
            <a:r>
              <a:rPr>
                <a:latin typeface="Consolas"/>
              </a:rPr>
              <a:t>  FROM telemetry_1min</a:t>
            </a:r>
            <a:br/>
            <a:r>
              <a:rPr>
                <a:latin typeface="Consolas"/>
              </a:rPr>
              <a:t>  WHERE bucket &gt; NOW() - '10 min'</a:t>
            </a:r>
            <a:br/>
            <a:r>
              <a:rPr>
                <a:latin typeface="Consolas"/>
              </a:rPr>
              <a:t>  ORDER BY site_id, bucket DESC</a:t>
            </a:r>
            <a:br/>
            <a:r>
              <a:rPr>
                <a:latin typeface="Consolas"/>
              </a:rPr>
              <a:t>), prices AS (</a:t>
            </a:r>
            <a:br/>
            <a:r>
              <a:rPr>
                <a:latin typeface="Consolas"/>
              </a:rPr>
              <a:t>  SELECT DISTINCT ON (market)</a:t>
            </a:r>
            <a:br/>
            <a:r>
              <a:rPr>
                <a:latin typeface="Consolas"/>
              </a:rPr>
              <a:t>    market, price_usd_mwh</a:t>
            </a:r>
            <a:br/>
            <a:r>
              <a:rPr>
                <a:latin typeface="Consolas"/>
              </a:rPr>
              <a:t>  FROM market_price_signals</a:t>
            </a:r>
            <a:br/>
            <a:r>
              <a:rPr>
                <a:latin typeface="Consolas"/>
              </a:rPr>
              <a:t>  WHERE ts &gt; NOW() - '30 min'</a:t>
            </a:r>
            <a:br/>
            <a:r>
              <a:rPr>
                <a:latin typeface="Consolas"/>
              </a:rPr>
              <a:t>  ORDER BY market, ts DESC</a:t>
            </a:r>
            <a:br/>
            <a:r>
              <a:rPr>
                <a:latin typeface="Consolas"/>
              </a:rPr>
              <a:t>)</a:t>
            </a:r>
            <a:br/>
            <a:r>
              <a:rPr>
                <a:latin typeface="Consolas"/>
              </a:rPr>
              <a:t>SELECT name, market, price_usd_mwh,</a:t>
            </a:r>
            <a:br/>
            <a:r>
              <a:rPr>
                <a:latin typeface="Consolas"/>
              </a:rPr>
              <a:t>  available_mw, available_mwh,</a:t>
            </a:r>
            <a:br/>
            <a:r>
              <a:rPr>
                <a:latin typeface="Consolas"/>
              </a:rPr>
              <a:t>  revenue_per_hour_usd,</a:t>
            </a:r>
            <a:br/>
            <a:r>
              <a:rPr>
                <a:latin typeface="Consolas"/>
              </a:rPr>
              <a:t>  total_opportunity_usd</a:t>
            </a:r>
            <a:br/>
            <a:r>
              <a:rPr>
                <a:latin typeface="Consolas"/>
              </a:rPr>
              <a:t>FROM sites JOIN latest JOIN prices</a:t>
            </a:r>
            <a:br/>
            <a:r>
              <a:rPr>
                <a:latin typeface="Consolas"/>
              </a:rPr>
              <a:t>ORDER BY revenue_per_hour DESC;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5350"/>
                </a:solidFill>
              </a:defRPr>
            </a:pPr>
            <a:r>
              <a:t>REVENUE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</a:defRPr>
            </a:pPr>
            <a:r>
              <a:t>Q5A — Missed Revenue (7-day lookback)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103120" cy="64008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BB6A"/>
                </a:solidFill>
              </a:defRPr>
            </a:pPr>
            <a:r>
              <a:t>~400ms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C3F7"/>
                </a:solidFill>
              </a:defRPr>
            </a:pPr>
            <a:r>
              <a:t>Head of Trading / CFO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How much money did we leave on the table this week?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74D"/>
                </a:solidFill>
              </a:defRPr>
            </a:pPr>
            <a:r>
              <a:t>Improve dispatch strategy, justify automation investment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Business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</a:defRPr>
            </a:pPr>
            <a:r>
              <a:t>Quantifies opportunity cost — most actionable BESS 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TimescaleDB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2860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8FF"/>
                </a:solidFill>
              </a:defRPr>
            </a:pPr>
            <a:r>
              <a:t>1-hour CAGG + market join + FILTER aggregation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51760"/>
            <a:ext cx="11247120" cy="3840480"/>
          </a:xfrm>
          <a:prstGeom prst="round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A69A"/>
                </a:solidFill>
                <a:latin typeface="Consolas"/>
              </a:defRPr>
            </a:pPr>
            <a:r>
              <a:rPr>
                <a:latin typeface="Consolas"/>
              </a:rPr>
              <a:t>WITH hourly_state AS (</a:t>
            </a:r>
            <a:br/>
            <a:r>
              <a:rPr>
                <a:latin typeface="Consolas"/>
              </a:rPr>
              <a:t>  SELECT bucket, site_id, avg_soc_pct,</a:t>
            </a:r>
            <a:br/>
            <a:r>
              <a:rPr>
                <a:latin typeface="Consolas"/>
              </a:rPr>
              <a:t>    avg_discharge_power_mw, capacity_mw</a:t>
            </a:r>
            <a:br/>
            <a:r>
              <a:rPr>
                <a:latin typeface="Consolas"/>
              </a:rPr>
              <a:t>  FROM telemetry_1hour JOIN sites USING(site_id)</a:t>
            </a:r>
            <a:br/>
            <a:r>
              <a:rPr>
                <a:latin typeface="Consolas"/>
              </a:rPr>
              <a:t>  WHERE bucket &gt;= NOW() - '7 days'</a:t>
            </a:r>
            <a:br/>
            <a:r>
              <a:rPr>
                <a:latin typeface="Consolas"/>
              </a:rPr>
              <a:t>), hourly_prices AS (</a:t>
            </a:r>
            <a:br/>
            <a:r>
              <a:rPr>
                <a:latin typeface="Consolas"/>
              </a:rPr>
              <a:t>  SELECT time_bucket('1 hour', ts) AS bucket,</a:t>
            </a:r>
            <a:br/>
            <a:r>
              <a:rPr>
                <a:latin typeface="Consolas"/>
              </a:rPr>
              <a:t>    market, AVG(price_usd_mwh) AS price</a:t>
            </a:r>
            <a:br/>
            <a:r>
              <a:rPr>
                <a:latin typeface="Consolas"/>
              </a:rPr>
              <a:t>  FROM market_price_signals</a:t>
            </a:r>
            <a:br/>
            <a:r>
              <a:rPr>
                <a:latin typeface="Consolas"/>
              </a:rPr>
              <a:t>  WHERE ts &gt;= NOW() - '7 days'</a:t>
            </a:r>
            <a:br/>
            <a:r>
              <a:rPr>
                <a:latin typeface="Consolas"/>
              </a:rPr>
              <a:t>  GROUP BY 1, market</a:t>
            </a:r>
            <a:br/>
            <a:r>
              <a:rPr>
                <a:latin typeface="Consolas"/>
              </a:rPr>
              <a:t>)</a:t>
            </a:r>
            <a:br/>
            <a:r>
              <a:rPr>
                <a:latin typeface="Consolas"/>
              </a:rPr>
              <a:t>SELECT name,</a:t>
            </a:r>
            <a:br/>
            <a:r>
              <a:rPr>
                <a:latin typeface="Consolas"/>
              </a:rPr>
              <a:t>  COUNT(*) FILTER (WHERE price &gt; 60)</a:t>
            </a:r>
            <a:br/>
            <a:r>
              <a:rPr>
                <a:latin typeface="Consolas"/>
              </a:rPr>
              <a:t>    AS high_price_hours,</a:t>
            </a:r>
            <a:br/>
            <a:r>
              <a:rPr>
                <a:latin typeface="Consolas"/>
              </a:rPr>
              <a:t>  COUNT(*) FILTER (WHERE missed)</a:t>
            </a:r>
            <a:br/>
            <a:r>
              <a:rPr>
                <a:latin typeface="Consolas"/>
              </a:rPr>
              <a:t>    AS missed_hours,</a:t>
            </a:r>
            <a:br/>
            <a:r>
              <a:rPr>
                <a:latin typeface="Consolas"/>
              </a:rPr>
              <a:t>  SUM(missed_revenue_usd)</a:t>
            </a:r>
            <a:br/>
            <a:r>
              <a:rPr>
                <a:latin typeface="Consolas"/>
              </a:rPr>
              <a:t>    AS total_missed_revenue</a:t>
            </a:r>
            <a:br/>
            <a:r>
              <a:rPr>
                <a:latin typeface="Consolas"/>
              </a:rPr>
              <a:t>FROM combined</a:t>
            </a:r>
            <a:br/>
            <a:r>
              <a:rPr>
                <a:latin typeface="Consolas"/>
              </a:rPr>
              <a:t>GROUP BY name</a:t>
            </a:r>
            <a:br/>
            <a:r>
              <a:rPr>
                <a:latin typeface="Consolas"/>
              </a:rPr>
              <a:t>ORDER BY total_missed_revenue DESC;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</a:defRPr>
            </a:pPr>
            <a: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</a:defRPr>
            </a:pPr>
            <a:r>
              <a:t>Q5B — Platform Proof (ingest + query)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74320"/>
            <a:ext cx="2103120" cy="64008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</a:defRPr>
            </a:pPr>
            <a:r>
              <a:t>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BB6A"/>
                </a:solidFill>
              </a:defRPr>
            </a:pPr>
            <a:r>
              <a:t>~50ms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C3F7"/>
                </a:solidFill>
              </a:defRPr>
            </a:pPr>
            <a:r>
              <a:t>Solutions Engineer / DBA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Can it handle real-time writes AND analytics simultaneously?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B74D"/>
                </a:solidFill>
              </a:defRPr>
            </a:pPr>
            <a:r>
              <a:t>Is TimescaleDB production-ready for this workload?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743200" cy="914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618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Business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</a:defRPr>
            </a:pPr>
            <a:r>
              <a:t>Platform confidence, reduced evaluation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TimescaleDB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2860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388FF"/>
                </a:solidFill>
              </a:defRPr>
            </a:pPr>
            <a:r>
              <a:t>System catalogs, compression stats, chunk metadata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51760"/>
            <a:ext cx="11247120" cy="3840480"/>
          </a:xfrm>
          <a:prstGeom prst="roundRect">
            <a:avLst/>
          </a:prstGeom>
          <a:solidFill>
            <a:srgbClr val="0F1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</a:defRPr>
            </a:pPr>
            <a: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260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A69A"/>
                </a:solidFill>
                <a:latin typeface="Consolas"/>
              </a:defRPr>
            </a:pPr>
            <a:r>
              <a:rPr>
                <a:latin typeface="Consolas"/>
              </a:rPr>
              <a:t>SELECT</a:t>
            </a:r>
            <a:br/>
            <a:r>
              <a:rPr>
                <a:latin typeface="Consolas"/>
              </a:rPr>
              <a:t>  (SELECT COUNT(*) FROM telemetry_raw</a:t>
            </a:r>
            <a:br/>
            <a:r>
              <a:rPr>
                <a:latin typeface="Consolas"/>
              </a:rPr>
              <a:t>   WHERE ts &gt; NOW() - '1 min')</a:t>
            </a:r>
            <a:br/>
            <a:r>
              <a:rPr>
                <a:latin typeface="Consolas"/>
              </a:rPr>
              <a:t>   AS rows_last_minute,</a:t>
            </a:r>
            <a:br/>
            <a:r>
              <a:rPr>
                <a:latin typeface="Consolas"/>
              </a:rPr>
              <a:t>  (SELECT reltuples::bigint FROM pg_class</a:t>
            </a:r>
            <a:br/>
            <a:r>
              <a:rPr>
                <a:latin typeface="Consolas"/>
              </a:rPr>
              <a:t>   WHERE relname = 'telemetry_raw')</a:t>
            </a:r>
            <a:br/>
            <a:r>
              <a:rPr>
                <a:latin typeface="Consolas"/>
              </a:rPr>
              <a:t>   AS est_total_rows,</a:t>
            </a:r>
            <a:br/>
            <a:r>
              <a:rPr>
                <a:latin typeface="Consolas"/>
              </a:rPr>
              <a:t>  (SELECT COUNT(*) FROM chunks</a:t>
            </a:r>
            <a:br/>
            <a:r>
              <a:rPr>
                <a:latin typeface="Consolas"/>
              </a:rPr>
              <a:t>   WHERE hypertable = 'telemetry_raw')</a:t>
            </a:r>
            <a:br/>
            <a:r>
              <a:rPr>
                <a:latin typeface="Consolas"/>
              </a:rPr>
              <a:t>   AS total_chunks,</a:t>
            </a:r>
            <a:br/>
            <a:r>
              <a:rPr>
                <a:latin typeface="Consolas"/>
              </a:rPr>
              <a:t>  (SELECT compression_ratio</a:t>
            </a:r>
            <a:br/>
            <a:r>
              <a:rPr>
                <a:latin typeface="Consolas"/>
              </a:rPr>
              <a:t>   FROM hypertable_compression_stats(...))</a:t>
            </a:r>
            <a:br/>
            <a:r>
              <a:rPr>
                <a:latin typeface="Consolas"/>
              </a:rPr>
              <a:t>   AS compression_ratio,</a:t>
            </a:r>
            <a:br/>
            <a:r>
              <a:rPr>
                <a:latin typeface="Consolas"/>
              </a:rPr>
              <a:t>  pg_size_pretty(pg_database_size(...))</a:t>
            </a:r>
            <a:br/>
            <a:r>
              <a:rPr>
                <a:latin typeface="Consolas"/>
              </a:rPr>
              <a:t>   AS database_size;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